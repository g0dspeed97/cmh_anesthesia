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fac820d39944f0" /><Relationship Type="http://schemas.openxmlformats.org/officeDocument/2006/relationships/extended-properties" Target="/docProps/app.xml" Id="R1f6760b99dcc449a" /><Relationship Type="http://schemas.openxmlformats.org/officeDocument/2006/relationships/officeDocument" Target="/ppt/presentation.xml" Id="R03e4db70bd834fa9" /></Relationships>
</file>

<file path=ppt/presentation.xml><?xml version="1.0" encoding="utf-8"?>
<p:presentation xmlns:p="http://schemas.openxmlformats.org/presentationml/2006/main">
  <p:sldMasterIdLst>
    <p:sldMasterId xmlns:r="http://schemas.openxmlformats.org/officeDocument/2006/relationships" id="2147483648" r:id="R99908c475c994ffb"/>
  </p:sldMasterIdLst>
  <p:notesMasterIdLst>
    <p:notesMasterId xmlns:r="http://schemas.openxmlformats.org/officeDocument/2006/relationships" r:id="Re97b2282bd274a93"/>
  </p:notesMasterIdLst>
  <p:sldIdLst>
    <p:sldId xmlns:r="http://schemas.openxmlformats.org/officeDocument/2006/relationships" id="256" r:id="R21d785becea04ed1"/>
    <p:sldId xmlns:r="http://schemas.openxmlformats.org/officeDocument/2006/relationships" id="257" r:id="R7b95c3864c6c44ac"/>
    <p:sldId xmlns:r="http://schemas.openxmlformats.org/officeDocument/2006/relationships" id="258" r:id="Rf8d8d30c7c4142c6"/>
    <p:sldId xmlns:r="http://schemas.openxmlformats.org/officeDocument/2006/relationships" id="259" r:id="R3fa7e7c7b4e74c17"/>
    <p:sldId xmlns:r="http://schemas.openxmlformats.org/officeDocument/2006/relationships" id="260" r:id="R08da60f5cf924e0d"/>
    <p:sldId xmlns:r="http://schemas.openxmlformats.org/officeDocument/2006/relationships" id="261" r:id="R6735dde5e60848bf"/>
    <p:sldId xmlns:r="http://schemas.openxmlformats.org/officeDocument/2006/relationships" id="262" r:id="Rca44c99ad3bc4f51"/>
    <p:sldId xmlns:r="http://schemas.openxmlformats.org/officeDocument/2006/relationships" id="263" r:id="R617efbb98f954cd5"/>
    <p:sldId xmlns:r="http://schemas.openxmlformats.org/officeDocument/2006/relationships" id="264" r:id="R5ba1e5ec56fc45e1"/>
    <p:sldId xmlns:r="http://schemas.openxmlformats.org/officeDocument/2006/relationships" id="265" r:id="Rcfd408cded2a41a2"/>
    <p:sldId xmlns:r="http://schemas.openxmlformats.org/officeDocument/2006/relationships" id="266" r:id="R8046c55ff5c24481"/>
    <p:sldId xmlns:r="http://schemas.openxmlformats.org/officeDocument/2006/relationships" id="267" r:id="R44b43f3a5b5949bd"/>
    <p:sldId xmlns:r="http://schemas.openxmlformats.org/officeDocument/2006/relationships" id="268" r:id="Ra4810bde3c2543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2f83ac061e4059" /><Relationship Type="http://schemas.openxmlformats.org/officeDocument/2006/relationships/slideMaster" Target="/ppt/slideMasters/slideMaster1.xml" Id="R99908c475c994ffb" /><Relationship Type="http://schemas.openxmlformats.org/officeDocument/2006/relationships/notesMaster" Target="/ppt/notesMasters/notesMaster1.xml" Id="Re97b2282bd274a93" /><Relationship Type="http://schemas.openxmlformats.org/officeDocument/2006/relationships/presProps" Target="/ppt/presProps.xml" Id="R58ba53e180f64616" /><Relationship Type="http://schemas.openxmlformats.org/officeDocument/2006/relationships/tableStyles" Target="/ppt/tableStyles.xml" Id="R5f276d0977734c8f" /><Relationship Type="http://schemas.openxmlformats.org/officeDocument/2006/relationships/slide" Target="/ppt/slides/slide1.xml" Id="R21d785becea04ed1" /><Relationship Type="http://schemas.openxmlformats.org/officeDocument/2006/relationships/slide" Target="/ppt/slides/slide2.xml" Id="R7b95c3864c6c44ac" /><Relationship Type="http://schemas.openxmlformats.org/officeDocument/2006/relationships/slide" Target="/ppt/slides/slide3.xml" Id="Rf8d8d30c7c4142c6" /><Relationship Type="http://schemas.openxmlformats.org/officeDocument/2006/relationships/slide" Target="/ppt/slides/slide4.xml" Id="R3fa7e7c7b4e74c17" /><Relationship Type="http://schemas.openxmlformats.org/officeDocument/2006/relationships/slide" Target="/ppt/slides/slide5.xml" Id="R08da60f5cf924e0d" /><Relationship Type="http://schemas.openxmlformats.org/officeDocument/2006/relationships/slide" Target="/ppt/slides/slide6.xml" Id="R6735dde5e60848bf" /><Relationship Type="http://schemas.openxmlformats.org/officeDocument/2006/relationships/slide" Target="/ppt/slides/slide7.xml" Id="Rca44c99ad3bc4f51" /><Relationship Type="http://schemas.openxmlformats.org/officeDocument/2006/relationships/slide" Target="/ppt/slides/slide8.xml" Id="R617efbb98f954cd5" /><Relationship Type="http://schemas.openxmlformats.org/officeDocument/2006/relationships/slide" Target="/ppt/slides/slide9.xml" Id="R5ba1e5ec56fc45e1" /><Relationship Type="http://schemas.openxmlformats.org/officeDocument/2006/relationships/slide" Target="/ppt/slides/slide10.xml" Id="Rcfd408cded2a41a2" /><Relationship Type="http://schemas.openxmlformats.org/officeDocument/2006/relationships/slide" Target="/ppt/slides/slide11.xml" Id="R8046c55ff5c24481" /><Relationship Type="http://schemas.openxmlformats.org/officeDocument/2006/relationships/slide" Target="/ppt/slides/slide12.xml" Id="R44b43f3a5b5949bd" /><Relationship Type="http://schemas.openxmlformats.org/officeDocument/2006/relationships/slide" Target="/ppt/slides/slide13.xml" Id="Ra4810bde3c2543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5fc7eeb3344c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bba4f4ec7241da" /><Relationship Type="http://schemas.openxmlformats.org/officeDocument/2006/relationships/notesMaster" Target="/ppt/notesMasters/notesMaster1.xml" Id="R158bdd3545bb44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b32da419214e80" /><Relationship Type="http://schemas.openxmlformats.org/officeDocument/2006/relationships/notesMaster" Target="/ppt/notesMasters/notesMaster1.xml" Id="R667f582913f34d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80d6ff62604d3f" /><Relationship Type="http://schemas.openxmlformats.org/officeDocument/2006/relationships/notesMaster" Target="/ppt/notesMasters/notesMaster1.xml" Id="Rd5273e02e54f4a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87371ecb3c4439" /><Relationship Type="http://schemas.openxmlformats.org/officeDocument/2006/relationships/notesMaster" Target="/ppt/notesMasters/notesMaster1.xml" Id="R2e86ef72436e40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e3534ac2d24021" /><Relationship Type="http://schemas.openxmlformats.org/officeDocument/2006/relationships/notesMaster" Target="/ppt/notesMasters/notesMaster1.xml" Id="R9e299cedcf2346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067603d154494b" /><Relationship Type="http://schemas.openxmlformats.org/officeDocument/2006/relationships/notesMaster" Target="/ppt/notesMasters/notesMaster1.xml" Id="Rd652f67ef3a24d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76c1ae66d94bd1" /><Relationship Type="http://schemas.openxmlformats.org/officeDocument/2006/relationships/notesMaster" Target="/ppt/notesMasters/notesMaster1.xml" Id="R75913be0607646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deaf01c051d4674" /><Relationship Type="http://schemas.openxmlformats.org/officeDocument/2006/relationships/notesMaster" Target="/ppt/notesMasters/notesMaster1.xml" Id="R5f5c90bc541749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6e164b9f9049e5" /><Relationship Type="http://schemas.openxmlformats.org/officeDocument/2006/relationships/notesMaster" Target="/ppt/notesMasters/notesMaster1.xml" Id="R52a8191d30414d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5d08f0186c4c64" /><Relationship Type="http://schemas.openxmlformats.org/officeDocument/2006/relationships/notesMaster" Target="/ppt/notesMasters/notesMaster1.xml" Id="R82bd333a0b044d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a3ce7a191d24486" /><Relationship Type="http://schemas.openxmlformats.org/officeDocument/2006/relationships/notesMaster" Target="/ppt/notesMasters/notesMaster1.xml" Id="Rdba128872fb4495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68e93062524060" /><Relationship Type="http://schemas.openxmlformats.org/officeDocument/2006/relationships/notesMaster" Target="/ppt/notesMasters/notesMaster1.xml" Id="R599407fe20bc4e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636f3c8d2846a9" /><Relationship Type="http://schemas.openxmlformats.org/officeDocument/2006/relationships/notesMaster" Target="/ppt/notesMasters/notesMaster1.xml" Id="R4b6ed7c1ceb746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operational problem, not the technology. Explain that the proposal gives patients and staff one visible journey from reception to the operation theatre. Keep the opening under one minute.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handoffs that create confusion: reception creates a record, the doctor later chooses an OT date, and the OT desk must know who is waiting or inside. The system connects those handoffs without changing clinical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Emphasise that the doctor still chooses the date and clinical plan. The software only carries the approved patient record forward and keeps the list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open rank list. Reception staff do not have to remember abbreviations or type the same details in several places. The patient record begins with a unique service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two physical outputs. The token goes to the patient. The A4 form stays with reception and the doctor. Printing happens from the server, so staff do not use a browser print dialogue.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Make the governance point clearly. The doctor remains responsible for the decision. The software records that decision and makes the approved list available to OT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OT desk changes one status at a time. The wall display updates immediately. Completed and cancelled patients leave the upcoming queue without anyone preparing another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on this screen. The current token, patient, operation, status and anaesthesiologist are visible at a distance. There is no sound cue in the proposed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silent rotation. The current case stays visible for ten seconds, then the next three patients stay visible for fifteen seconds. Both times can be changed in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practical. Discuss the daily experience for each group. Avoid technical language and do not promise numerical savings before the pilot measures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one Windows server PC on the approved private network. Staff PCs open the system through a simple address. The television uses the same network. The proposal does not require a public cloud connection for daily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governance slide. Explain that every role sees only the tools it needs. Backups and secure network settings must follow CMH policy before any real patient information enters the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small, safe request. Ask for permission to demonstrate the workflow with synthetic records, confirm the network and printer choices, and gather staff feedback before live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bff945ed40462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e7431025ad4d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e750b4fc014b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34fc64dd2e24b4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bc43ef08e8d44c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27a8d5aa2e741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095ECB-2DB0-4B8A-8A02-C252960FAA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27F2BB-60D0-4877-8B82-3E174A179FE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8940E6-1B95-4A84-895E-129667F8AF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E14A0F-C751-484A-ABB9-512BA3641B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807BFE9-5BE3-43F4-A606-6E585CECC9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1CA88AB-1277-43AE-94F7-C913E55CA5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7908FC-1C22-497E-8E2E-604125F4EA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325F156-D002-4461-9F72-4B95E2AF172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16E485-6DEC-4D23-860B-27211763FE5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5140D2-71D1-4A8E-81BD-5EB763EBCD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21a5fae5d24ff4" /><Relationship Type="http://schemas.openxmlformats.org/officeDocument/2006/relationships/slideLayout" Target="/ppt/slideLayouts/slideLayout1.xml" Id="R48dc96be6f164254" /><Relationship Type="http://schemas.openxmlformats.org/officeDocument/2006/relationships/slideLayout" Target="/ppt/slideLayouts/slideLayout2.xml" Id="Ree39077873664968" /><Relationship Type="http://schemas.openxmlformats.org/officeDocument/2006/relationships/slideLayout" Target="/ppt/slideLayouts/slideLayout3.xml" Id="R124d2e01a394411a" /><Relationship Type="http://schemas.openxmlformats.org/officeDocument/2006/relationships/slideLayout" Target="/ppt/slideLayouts/slideLayout4.xml" Id="R304e87300ba645d1" /><Relationship Type="http://schemas.openxmlformats.org/officeDocument/2006/relationships/slideLayout" Target="/ppt/slideLayouts/slideLayout5.xml" Id="R0b686f23c7a34504" /><Relationship Type="http://schemas.openxmlformats.org/officeDocument/2006/relationships/slideLayout" Target="/ppt/slideLayouts/slideLayout6.xml" Id="Rc5c214358223432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dc96be6f164254"/>
    <p:sldLayoutId xmlns:r="http://schemas.openxmlformats.org/officeDocument/2006/relationships" id="2147483650" r:id="Ree39077873664968"/>
    <p:sldLayoutId xmlns:r="http://schemas.openxmlformats.org/officeDocument/2006/relationships" id="2147483651" r:id="R124d2e01a394411a"/>
    <p:sldLayoutId xmlns:r="http://schemas.openxmlformats.org/officeDocument/2006/relationships" id="2147483652" r:id="R304e87300ba645d1"/>
    <p:sldLayoutId xmlns:r="http://schemas.openxmlformats.org/officeDocument/2006/relationships" id="2147483653" r:id="R0b686f23c7a34504"/>
    <p:sldLayoutId xmlns:r="http://schemas.openxmlformats.org/officeDocument/2006/relationships" id="2147483654" r:id="Rc5c214358223432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e2bf34931a46dc" /><Relationship Type="http://schemas.openxmlformats.org/officeDocument/2006/relationships/image" Target="/ppt/media/image.jpeg" Id="R5c8ab79ebef440de" /><Relationship Type="http://schemas.openxmlformats.org/officeDocument/2006/relationships/notesSlide" Target="/ppt/notesSlides/notesSlide1.xml" Id="Rfdc7a6403a044b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702056e3e514cf3" /><Relationship Type="http://schemas.openxmlformats.org/officeDocument/2006/relationships/notesSlide" Target="/ppt/notesSlides/notesSlide2.xml" Id="Rdaee172b58a540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03dadfc951e49d9" /><Relationship Type="http://schemas.openxmlformats.org/officeDocument/2006/relationships/notesSlide" Target="/ppt/notesSlides/notesSlide3.xml" Id="R6bfac21129794a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f58388622a342d8" /><Relationship Type="http://schemas.openxmlformats.org/officeDocument/2006/relationships/image" Target="/ppt/media/image2.jpeg" Id="R36011d29b5664ef4" /><Relationship Type="http://schemas.openxmlformats.org/officeDocument/2006/relationships/notesSlide" Target="/ppt/notesSlides/notesSlide4.xml" Id="Rf8bce44b809742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602e4d2b524e74" /><Relationship Type="http://schemas.openxmlformats.org/officeDocument/2006/relationships/image" Target="/ppt/media/image.png" Id="R4d1124cca5344eec" /><Relationship Type="http://schemas.openxmlformats.org/officeDocument/2006/relationships/image" Target="/ppt/media/image2.png" Id="Rd1c2f28c6ab2424f" /><Relationship Type="http://schemas.openxmlformats.org/officeDocument/2006/relationships/notesSlide" Target="/ppt/notesSlides/notesSlide5.xml" Id="R5cf9a4a5330a4a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7350eab5cf34b47" /><Relationship Type="http://schemas.openxmlformats.org/officeDocument/2006/relationships/image" Target="/ppt/media/image3.jpeg" Id="R8de17d514d68496b" /><Relationship Type="http://schemas.openxmlformats.org/officeDocument/2006/relationships/notesSlide" Target="/ppt/notesSlides/notesSlide6.xml" Id="Rce9a5340b6a743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4cf0ee0177d493a" /><Relationship Type="http://schemas.openxmlformats.org/officeDocument/2006/relationships/image" Target="/ppt/media/image4.jpeg" Id="R72aeceea8b504071" /><Relationship Type="http://schemas.openxmlformats.org/officeDocument/2006/relationships/notesSlide" Target="/ppt/notesSlides/notesSlide7.xml" Id="R82188031db5b46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c1b4c0d8ce41b9" /><Relationship Type="http://schemas.openxmlformats.org/officeDocument/2006/relationships/image" Target="/ppt/media/image5.jpeg" Id="Rd681bb8d63e44fb4" /><Relationship Type="http://schemas.openxmlformats.org/officeDocument/2006/relationships/notesSlide" Target="/ppt/notesSlides/notesSlide8.xml" Id="R4d680bd69737481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e3cf99973834892" /><Relationship Type="http://schemas.openxmlformats.org/officeDocument/2006/relationships/image" Target="/ppt/media/image6.jpeg" Id="R582d88266153433f" /><Relationship Type="http://schemas.openxmlformats.org/officeDocument/2006/relationships/notesSlide" Target="/ppt/notesSlides/notesSlide9.xml" Id="Rac3193d0e51d4c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2eaa50879c54778" /><Relationship Type="http://schemas.openxmlformats.org/officeDocument/2006/relationships/notesSlide" Target="/ppt/notesSlides/notesSlide10.xml" Id="R36eefefe66f342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03a6fa1ec2b46cb" /><Relationship Type="http://schemas.openxmlformats.org/officeDocument/2006/relationships/notesSlide" Target="/ppt/notesSlides/notesSlide11.xml" Id="R973d64f138dc47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83bd843fd574af6" /><Relationship Type="http://schemas.openxmlformats.org/officeDocument/2006/relationships/notesSlide" Target="/ppt/notesSlides/notesSlide12.xml" Id="Re51b0439135f4d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b88dd597ccd4c85" /><Relationship Type="http://schemas.openxmlformats.org/officeDocument/2006/relationships/notesSlide" Target="/ppt/notesSlides/notesSlide13.xml" Id="Rbe9fc8bf6d704b83" /></Relationships>
</file>

<file path=ppt/slides/slide1.xml><?xml version="1.0" encoding="utf-8"?>
<p:sld xmlns:p="http://schemas.openxmlformats.org/presentationml/2006/main">
  <p:cSld>
    <p:bg>
      <p:bgPr>
        <a:solidFill xmlns:a="http://schemas.openxmlformats.org/drawingml/2006/main">
          <a:srgbClr val="0A2C2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2D46AF-8A50-4897-ABC7-667264C9C036}"/>
              </a:ext>
            </a:extLst>
          </p:cNvPr>
          <p:cNvSpPr>
            <a:spLocks xmlns:a="http://schemas.openxmlformats.org/drawingml/2006/main" noGrp="1"/>
          </p:cNvSpPr>
          <p:nvPr/>
        </p:nvSpPr>
        <p:spPr>
          <a:xfrm xmlns:a="http://schemas.openxmlformats.org/drawingml/2006/main">
            <a:off x="0" y="0"/>
            <a:ext cx="4838700" cy="6858000"/>
          </a:xfrm>
          <a:prstGeom xmlns:a="http://schemas.openxmlformats.org/drawingml/2006/main" prst="rect">
            <a:avLst/>
          </a:prstGeom>
          <a:solidFill xmlns:a="http://schemas.openxmlformats.org/drawingml/2006/main">
            <a:srgbClr val="0A2C2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528688-6A82-4E92-9D06-B8F6929633E8}"/>
              </a:ext>
            </a:extLst>
          </p:cNvPr>
          <p:cNvSpPr>
            <a:spLocks xmlns:a="http://schemas.openxmlformats.org/drawingml/2006/main" noGrp="1"/>
          </p:cNvSpPr>
          <p:nvPr/>
        </p:nvSpPr>
        <p:spPr>
          <a:xfrm xmlns:a="http://schemas.openxmlformats.org/drawingml/2006/main">
            <a:off x="685800" y="7810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1">
                <a:solidFill>
                  <a:srgbClr val="D5A63A"/>
                </a:solidFill>
                <a:latin typeface="Arial"/>
                <a:ea typeface="Arial"/>
                <a:cs typeface="Arial"/>
              </a:defRPr>
            </a:defPPr>
          </a:lstStyle>
          <a:p xmlns:a="http://schemas.openxmlformats.org/drawingml/2006/main">
            <a:pPr algn="l">
              <a:defRPr sz="1350" b="1">
                <a:solidFill>
                  <a:srgbClr val="D5A63A"/>
                </a:solidFill>
                <a:latin typeface="Arial"/>
                <a:ea typeface="Arial"/>
                <a:cs typeface="Arial"/>
              </a:defRPr>
            </a:pPr>
            <a:r>
              <a:rPr sz="1350" b="1">
                <a:solidFill>
                  <a:srgbClr val="D5A63A"/>
                </a:solidFill>
                <a:latin typeface="Arial"/>
                <a:ea typeface="Arial"/>
                <a:cs typeface="Arial"/>
              </a:rPr>
              <a:t>CMH ANAESTHESIA</a:t>
            </a:r>
          </a:p>
        </p:txBody>
      </p:sp>
      <p:sp>
        <p:nvSpPr>
          <p:cNvPr id="3" name="">
            <a:extLst xmlns:a="http://schemas.openxmlformats.org/drawingml/2006/main">
              <a:ext uri="{FF2B5EF4-FFF2-40B4-BE49-F238E27FC236}">
                <a16:creationId xmlns:a16="http://schemas.microsoft.com/office/drawing/2014/main" id="{F44A61C7-8C7E-4DC0-A967-C3EF703FC79E}"/>
              </a:ext>
            </a:extLst>
          </p:cNvPr>
          <p:cNvSpPr>
            <a:spLocks xmlns:a="http://schemas.openxmlformats.org/drawingml/2006/main" noGrp="1"/>
          </p:cNvSpPr>
          <p:nvPr/>
        </p:nvSpPr>
        <p:spPr>
          <a:xfrm xmlns:a="http://schemas.openxmlformats.org/drawingml/2006/main">
            <a:off x="685800" y="1504950"/>
            <a:ext cx="3714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750" b="1">
                <a:solidFill>
                  <a:srgbClr val="FFFFFF"/>
                </a:solidFill>
                <a:latin typeface="Arial"/>
                <a:ea typeface="Arial"/>
                <a:cs typeface="Arial"/>
              </a:defRPr>
            </a:defPPr>
          </a:lstStyle>
          <a:p xmlns:a="http://schemas.openxmlformats.org/drawingml/2006/main">
            <a:pPr algn="l">
              <a:lnSpc>
                <a:spcPct val="94000"/>
              </a:lnSpc>
              <a:buNone/>
              <a:defRPr sz="3750" b="1">
                <a:solidFill>
                  <a:srgbClr val="FFFFFF"/>
                </a:solidFill>
                <a:latin typeface="Arial"/>
                <a:ea typeface="Arial"/>
                <a:cs typeface="Arial"/>
              </a:defRPr>
            </a:pPr>
            <a:r>
              <a:rPr sz="3750" b="1">
                <a:solidFill>
                  <a:srgbClr val="FFFFFF"/>
                </a:solidFill>
                <a:latin typeface="Arial"/>
                <a:ea typeface="Arial"/>
                <a:cs typeface="Arial"/>
              </a:rPr>
              <a:t>A clearer patient journey</a:t>
            </a:r>
          </a:p>
        </p:txBody>
      </p:sp>
      <p:sp>
        <p:nvSpPr>
          <p:cNvPr id="4" name="">
            <a:extLst xmlns:a="http://schemas.openxmlformats.org/drawingml/2006/main">
              <a:ext uri="{FF2B5EF4-FFF2-40B4-BE49-F238E27FC236}">
                <a16:creationId xmlns:a16="http://schemas.microsoft.com/office/drawing/2014/main" id="{380EC143-AA80-4541-B32F-5B73171ACC3B}"/>
              </a:ext>
            </a:extLst>
          </p:cNvPr>
          <p:cNvSpPr>
            <a:spLocks xmlns:a="http://schemas.openxmlformats.org/drawingml/2006/main" noGrp="1"/>
          </p:cNvSpPr>
          <p:nvPr/>
        </p:nvSpPr>
        <p:spPr>
          <a:xfrm xmlns:a="http://schemas.openxmlformats.org/drawingml/2006/main">
            <a:off x="685800" y="3352800"/>
            <a:ext cx="3429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110"/>
          </a:bodyPr>
          <a:lstStyle xmlns:a="http://schemas.openxmlformats.org/drawingml/2006/main">
            <a:defPPr algn="l">
              <a:defRPr sz="1875" b="0">
                <a:solidFill>
                  <a:srgbClr val="D7E4DF"/>
                </a:solidFill>
                <a:latin typeface="Arial"/>
                <a:ea typeface="Arial"/>
                <a:cs typeface="Arial"/>
              </a:defRPr>
            </a:defPPr>
          </a:lstStyle>
          <a:p xmlns:a="http://schemas.openxmlformats.org/drawingml/2006/main">
            <a:pPr algn="l">
              <a:lnSpc>
                <a:spcPct val="108000"/>
              </a:lnSpc>
              <a:buNone/>
              <a:defRPr sz="1875" b="0">
                <a:solidFill>
                  <a:srgbClr val="D7E4DF"/>
                </a:solidFill>
                <a:latin typeface="Arial"/>
                <a:ea typeface="Arial"/>
                <a:cs typeface="Arial"/>
              </a:defRPr>
            </a:pPr>
            <a:r>
              <a:rPr sz="1875" b="0">
                <a:solidFill>
                  <a:srgbClr val="D7E4DF"/>
                </a:solidFill>
                <a:latin typeface="Arial"/>
                <a:ea typeface="Arial"/>
                <a:cs typeface="Arial"/>
              </a:rPr>
              <a:t>Reception, doctor scheduling and operation theatre coordination in one simple system</a:t>
            </a:r>
          </a:p>
        </p:txBody>
      </p:sp>
      <p:sp>
        <p:nvSpPr>
          <p:cNvPr id="5" name="">
            <a:extLst xmlns:a="http://schemas.openxmlformats.org/drawingml/2006/main">
              <a:ext uri="{FF2B5EF4-FFF2-40B4-BE49-F238E27FC236}">
                <a16:creationId xmlns:a16="http://schemas.microsoft.com/office/drawing/2014/main" id="{63235D6E-2D57-4EC0-AB03-55952A32C697}"/>
              </a:ext>
            </a:extLst>
          </p:cNvPr>
          <p:cNvSpPr>
            <a:spLocks xmlns:a="http://schemas.openxmlformats.org/drawingml/2006/main" noGrp="1"/>
          </p:cNvSpPr>
          <p:nvPr/>
        </p:nvSpPr>
        <p:spPr>
          <a:xfrm xmlns:a="http://schemas.openxmlformats.org/drawingml/2006/main">
            <a:off x="685800" y="565785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Arial"/>
                <a:ea typeface="Arial"/>
                <a:cs typeface="Arial"/>
              </a:defRPr>
            </a:defPPr>
          </a:lstStyle>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Proposal for the Department of Anaesthesiology</a:t>
            </a:r>
          </a:p>
        </p:txBody>
      </p:sp>
      <p:sp>
        <p:nvSpPr>
          <p:cNvPr id="6" name="">
            <a:extLst xmlns:a="http://schemas.openxmlformats.org/drawingml/2006/main">
              <a:ext uri="{FF2B5EF4-FFF2-40B4-BE49-F238E27FC236}">
                <a16:creationId xmlns:a16="http://schemas.microsoft.com/office/drawing/2014/main" id="{73E5CE3D-DD3B-4C1C-8336-D7C53BFEC79D}"/>
              </a:ext>
            </a:extLst>
          </p:cNvPr>
          <p:cNvSpPr>
            <a:spLocks xmlns:a="http://schemas.openxmlformats.org/drawingml/2006/main" noGrp="1"/>
          </p:cNvSpPr>
          <p:nvPr/>
        </p:nvSpPr>
        <p:spPr>
          <a:xfrm xmlns:a="http://schemas.openxmlformats.org/drawingml/2006/main">
            <a:off x="5295900" y="819150"/>
            <a:ext cx="600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275" b="1">
                <a:solidFill>
                  <a:srgbClr val="D5A63A"/>
                </a:solidFill>
                <a:latin typeface="Arial"/>
                <a:ea typeface="Arial"/>
                <a:cs typeface="Arial"/>
              </a:defRPr>
            </a:defPPr>
          </a:lstStyle>
          <a:p xmlns:a="http://schemas.openxmlformats.org/drawingml/2006/main">
            <a:pPr algn="r">
              <a:defRPr sz="1275" b="1">
                <a:solidFill>
                  <a:srgbClr val="D5A63A"/>
                </a:solidFill>
                <a:latin typeface="Arial"/>
                <a:ea typeface="Arial"/>
                <a:cs typeface="Arial"/>
              </a:defRPr>
            </a:pPr>
            <a:r>
              <a:rPr sz="1275" b="1">
                <a:solidFill>
                  <a:srgbClr val="D5A63A"/>
                </a:solidFill>
                <a:latin typeface="Arial"/>
                <a:ea typeface="Arial"/>
                <a:cs typeface="Arial"/>
              </a:rPr>
              <a:t>LIVE OT DISPLAY</a:t>
            </a:r>
          </a:p>
        </p:txBody>
      </p:sp>
      <p:sp>
        <p:nvSpPr>
          <p:cNvPr id="7" name="">
            <a:extLst xmlns:a="http://schemas.openxmlformats.org/drawingml/2006/main">
              <a:ext uri="{FF2B5EF4-FFF2-40B4-BE49-F238E27FC236}">
                <a16:creationId xmlns:a16="http://schemas.microsoft.com/office/drawing/2014/main" id="{F7BCCE92-BC57-4738-B2C3-F5541A6B4332}"/>
              </a:ext>
            </a:extLst>
          </p:cNvPr>
          <p:cNvSpPr>
            <a:spLocks xmlns:a="http://schemas.openxmlformats.org/drawingml/2006/main" noGrp="1"/>
          </p:cNvSpPr>
          <p:nvPr/>
        </p:nvSpPr>
        <p:spPr>
          <a:xfrm xmlns:a="http://schemas.openxmlformats.org/drawingml/2006/main">
            <a:off x="4953000" y="1304925"/>
            <a:ext cx="7124700" cy="38100"/>
          </a:xfrm>
          <a:prstGeom xmlns:a="http://schemas.openxmlformats.org/drawingml/2006/main" prst="rect">
            <a:avLst/>
          </a:prstGeom>
          <a:solidFill xmlns:a="http://schemas.openxmlformats.org/drawingml/2006/main">
            <a:srgbClr val="D5A63A"/>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C6E593A8-A987-418F-8615-660C997BCC83}"/>
              </a:ext>
            </a:extLst>
          </p:cNvPr>
          <p:cNvPicPr>
            <a:picLocks xmlns:a="http://schemas.openxmlformats.org/drawingml/2006/main" noChangeAspect="1"/>
          </p:cNvPicPr>
          <p:nvPr/>
        </p:nvPicPr>
        <p:blipFill>
          <a:blip xmlns:r="http://schemas.openxmlformats.org/officeDocument/2006/relationships" xmlns:a="http://schemas.openxmlformats.org/drawingml/2006/main" r:embed="R5c8ab79ebef440de"/>
          <a:stretch xmlns:a="http://schemas.openxmlformats.org/drawingml/2006/main"/>
        </p:blipFill>
        <p:spPr>
          <a:xfrm xmlns:a="http://schemas.openxmlformats.org/drawingml/2006/main">
            <a:off x="4953000" y="1439152"/>
            <a:ext cx="7124700" cy="4008270"/>
          </a:xfrm>
          <a:prstGeom xmlns:a="http://schemas.openxmlformats.org/drawingml/2006/main" prst="roundRect">
            <a:avLst>
              <a:gd name="adj" fmla="val 2850"/>
            </a:avLst>
          </a:prstGeom>
        </p:spPr>
      </p:pic>
      <p:sp>
        <p:nvSpPr>
          <p:cNvPr id="9" name="">
            <a:extLst xmlns:a="http://schemas.openxmlformats.org/drawingml/2006/main">
              <a:ext uri="{FF2B5EF4-FFF2-40B4-BE49-F238E27FC236}">
                <a16:creationId xmlns:a16="http://schemas.microsoft.com/office/drawing/2014/main" id="{35FBADC0-50D6-4AE7-A331-C2A3D9A3902F}"/>
              </a:ext>
            </a:extLst>
          </p:cNvPr>
          <p:cNvSpPr>
            <a:spLocks xmlns:a="http://schemas.openxmlformats.org/drawingml/2006/main" noGrp="1"/>
          </p:cNvSpPr>
          <p:nvPr/>
        </p:nvSpPr>
        <p:spPr>
          <a:xfrm xmlns:a="http://schemas.openxmlformats.org/drawingml/2006/main">
            <a:off x="4953000" y="5543550"/>
            <a:ext cx="7124700"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36A59D4-3338-436F-ACAA-E80EE629D857}"/>
              </a:ext>
            </a:extLst>
          </p:cNvPr>
          <p:cNvSpPr>
            <a:spLocks xmlns:a="http://schemas.openxmlformats.org/drawingml/2006/main" noGrp="1"/>
          </p:cNvSpPr>
          <p:nvPr/>
        </p:nvSpPr>
        <p:spPr>
          <a:xfrm xmlns:a="http://schemas.openxmlformats.org/drawingml/2006/main">
            <a:off x="5219700" y="588645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275" b="0">
                <a:solidFill>
                  <a:srgbClr val="D7E4DF"/>
                </a:solidFill>
                <a:latin typeface="Arial"/>
                <a:ea typeface="Arial"/>
                <a:cs typeface="Arial"/>
              </a:defRPr>
            </a:defPPr>
          </a:lstStyle>
          <a:p xmlns:a="http://schemas.openxmlformats.org/drawingml/2006/main">
            <a:pPr algn="ctr">
              <a:defRPr sz="1275" b="0">
                <a:solidFill>
                  <a:srgbClr val="D7E4DF"/>
                </a:solidFill>
                <a:latin typeface="Arial"/>
                <a:ea typeface="Arial"/>
                <a:cs typeface="Arial"/>
              </a:defRPr>
            </a:pPr>
            <a:r>
              <a:rPr sz="1275" b="0">
                <a:solidFill>
                  <a:srgbClr val="D7E4DF"/>
                </a:solidFill>
                <a:latin typeface="Arial"/>
                <a:ea typeface="Arial"/>
                <a:cs typeface="Arial"/>
              </a:rPr>
              <a:t>Current patient  •  live status  •  visible across the waiting area</a:t>
            </a:r>
          </a:p>
        </p:txBody>
      </p:sp>
      <p:sp>
        <p:nvSpPr>
          <p:cNvPr id="11" name="">
            <a:extLst xmlns:a="http://schemas.openxmlformats.org/drawingml/2006/main">
              <a:ext uri="{FF2B5EF4-FFF2-40B4-BE49-F238E27FC236}">
                <a16:creationId xmlns:a16="http://schemas.microsoft.com/office/drawing/2014/main" id="{B552C1B9-08EC-4E36-AE5E-0D0ACB9EB06C}"/>
              </a:ext>
            </a:extLst>
          </p:cNvPr>
          <p:cNvSpPr>
            <a:spLocks xmlns:a="http://schemas.openxmlformats.org/drawingml/2006/main" noGrp="1"/>
          </p:cNvSpPr>
          <p:nvPr/>
        </p:nvSpPr>
        <p:spPr>
          <a:xfrm xmlns:a="http://schemas.openxmlformats.org/drawingml/2006/main">
            <a:off x="4724400" y="0"/>
            <a:ext cx="190500" cy="68580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437720889"/>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2F6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39B19A-71BF-4CFA-A729-708195970A9E}"/>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The coordination challenge</a:t>
            </a:r>
          </a:p>
        </p:txBody>
      </p:sp>
      <p:sp>
        <p:nvSpPr>
          <p:cNvPr id="2" name="">
            <a:extLst xmlns:a="http://schemas.openxmlformats.org/drawingml/2006/main">
              <a:ext uri="{FF2B5EF4-FFF2-40B4-BE49-F238E27FC236}">
                <a16:creationId xmlns:a16="http://schemas.microsoft.com/office/drawing/2014/main" id="{74CCCADA-8C3A-4A1E-B295-225291E92AB8}"/>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617BBFD2-140A-4FAD-9E95-9BD3A0ACBA53}"/>
              </a:ext>
            </a:extLst>
          </p:cNvPr>
          <p:cNvSpPr>
            <a:spLocks xmlns:a="http://schemas.openxmlformats.org/drawingml/2006/main" noGrp="1"/>
          </p:cNvSpPr>
          <p:nvPr/>
        </p:nvSpPr>
        <p:spPr>
          <a:xfrm xmlns:a="http://schemas.openxmlformats.org/drawingml/2006/main">
            <a:off x="666750" y="11811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100" b="1">
                <a:solidFill>
                  <a:srgbClr val="16211D"/>
                </a:solidFill>
                <a:latin typeface="Arial"/>
                <a:ea typeface="Arial"/>
                <a:cs typeface="Arial"/>
              </a:defRPr>
            </a:defPPr>
          </a:lstStyle>
          <a:p xmlns:a="http://schemas.openxmlformats.org/drawingml/2006/main">
            <a:pPr algn="l">
              <a:defRPr sz="2100" b="1">
                <a:solidFill>
                  <a:srgbClr val="16211D"/>
                </a:solidFill>
                <a:latin typeface="Arial"/>
                <a:ea typeface="Arial"/>
                <a:cs typeface="Arial"/>
              </a:defRPr>
            </a:pPr>
            <a:r>
              <a:rPr sz="2100" b="1">
                <a:solidFill>
                  <a:srgbClr val="16211D"/>
                </a:solidFill>
                <a:latin typeface="Arial"/>
                <a:ea typeface="Arial"/>
                <a:cs typeface="Arial"/>
              </a:rPr>
              <a:t>Reception, doctors and the OT desk currently depend on separate paper steps and verbal updates.</a:t>
            </a:r>
          </a:p>
        </p:txBody>
      </p:sp>
      <p:sp>
        <p:nvSpPr>
          <p:cNvPr id="4" name="">
            <a:extLst xmlns:a="http://schemas.openxmlformats.org/drawingml/2006/main">
              <a:ext uri="{FF2B5EF4-FFF2-40B4-BE49-F238E27FC236}">
                <a16:creationId xmlns:a16="http://schemas.microsoft.com/office/drawing/2014/main" id="{C7E7AD13-9F37-4493-9581-A68726CB6950}"/>
              </a:ext>
            </a:extLst>
          </p:cNvPr>
          <p:cNvSpPr>
            <a:spLocks xmlns:a="http://schemas.openxmlformats.org/drawingml/2006/main" noGrp="1"/>
          </p:cNvSpPr>
          <p:nvPr/>
        </p:nvSpPr>
        <p:spPr>
          <a:xfrm xmlns:a="http://schemas.openxmlformats.org/drawingml/2006/main">
            <a:off x="742950" y="211455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250" b="1">
                <a:solidFill>
                  <a:srgbClr val="D5A63A"/>
                </a:solidFill>
                <a:latin typeface="Arial"/>
                <a:ea typeface="Arial"/>
                <a:cs typeface="Arial"/>
              </a:defRPr>
            </a:defPPr>
          </a:lstStyle>
          <a:p xmlns:a="http://schemas.openxmlformats.org/drawingml/2006/main">
            <a:pPr algn="l">
              <a:defRPr sz="2250" b="1">
                <a:solidFill>
                  <a:srgbClr val="D5A63A"/>
                </a:solidFill>
                <a:latin typeface="Arial"/>
                <a:ea typeface="Arial"/>
                <a:cs typeface="Arial"/>
              </a:defRPr>
            </a:pPr>
            <a:r>
              <a:rPr sz="2250" b="1">
                <a:solidFill>
                  <a:srgbClr val="D5A63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EF55AB9-C611-48A6-85FF-6AB539C05DAD}"/>
              </a:ext>
            </a:extLst>
          </p:cNvPr>
          <p:cNvSpPr>
            <a:spLocks xmlns:a="http://schemas.openxmlformats.org/drawingml/2006/main" noGrp="1"/>
          </p:cNvSpPr>
          <p:nvPr/>
        </p:nvSpPr>
        <p:spPr>
          <a:xfrm xmlns:a="http://schemas.openxmlformats.org/drawingml/2006/main">
            <a:off x="1666875" y="211455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950" b="1">
                <a:solidFill>
                  <a:srgbClr val="123D32"/>
                </a:solidFill>
                <a:latin typeface="Arial"/>
                <a:ea typeface="Arial"/>
                <a:cs typeface="Arial"/>
              </a:defRPr>
            </a:defPPr>
          </a:lstStyle>
          <a:p xmlns:a="http://schemas.openxmlformats.org/drawingml/2006/main">
            <a:pPr algn="l">
              <a:defRPr sz="1950" b="1">
                <a:solidFill>
                  <a:srgbClr val="123D32"/>
                </a:solidFill>
                <a:latin typeface="Arial"/>
                <a:ea typeface="Arial"/>
                <a:cs typeface="Arial"/>
              </a:defRPr>
            </a:pPr>
            <a:r>
              <a:rPr sz="1950" b="1">
                <a:solidFill>
                  <a:srgbClr val="123D32"/>
                </a:solidFill>
                <a:latin typeface="Arial"/>
                <a:ea typeface="Arial"/>
                <a:cs typeface="Arial"/>
              </a:rPr>
              <a:t>Reception</a:t>
            </a:r>
          </a:p>
        </p:txBody>
      </p:sp>
      <p:sp>
        <p:nvSpPr>
          <p:cNvPr id="6" name="">
            <a:extLst xmlns:a="http://schemas.openxmlformats.org/drawingml/2006/main">
              <a:ext uri="{FF2B5EF4-FFF2-40B4-BE49-F238E27FC236}">
                <a16:creationId xmlns:a16="http://schemas.microsoft.com/office/drawing/2014/main" id="{07597D4F-3624-4E6D-9C35-15CCF7D9876D}"/>
              </a:ext>
            </a:extLst>
          </p:cNvPr>
          <p:cNvSpPr>
            <a:spLocks xmlns:a="http://schemas.openxmlformats.org/drawingml/2006/main" noGrp="1"/>
          </p:cNvSpPr>
          <p:nvPr/>
        </p:nvSpPr>
        <p:spPr>
          <a:xfrm xmlns:a="http://schemas.openxmlformats.org/drawingml/2006/main">
            <a:off x="3714750" y="211455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0">
                <a:solidFill>
                  <a:srgbClr val="16211D"/>
                </a:solidFill>
                <a:latin typeface="Arial"/>
                <a:ea typeface="Arial"/>
                <a:cs typeface="Arial"/>
              </a:defRPr>
            </a:defPPr>
          </a:lstStyle>
          <a:p xmlns:a="http://schemas.openxmlformats.org/drawingml/2006/main">
            <a:pPr algn="l">
              <a:defRPr sz="1725" b="0">
                <a:solidFill>
                  <a:srgbClr val="16211D"/>
                </a:solidFill>
                <a:latin typeface="Arial"/>
                <a:ea typeface="Arial"/>
                <a:cs typeface="Arial"/>
              </a:defRPr>
            </a:pPr>
            <a:r>
              <a:rPr sz="1725" b="0">
                <a:solidFill>
                  <a:srgbClr val="16211D"/>
                </a:solidFill>
                <a:latin typeface="Arial"/>
                <a:ea typeface="Arial"/>
                <a:cs typeface="Arial"/>
              </a:rPr>
              <a:t>Records the patient and prepares a paper token and form</a:t>
            </a:r>
          </a:p>
        </p:txBody>
      </p:sp>
      <p:sp>
        <p:nvSpPr>
          <p:cNvPr id="7" name="">
            <a:extLst xmlns:a="http://schemas.openxmlformats.org/drawingml/2006/main">
              <a:ext uri="{FF2B5EF4-FFF2-40B4-BE49-F238E27FC236}">
                <a16:creationId xmlns:a16="http://schemas.microsoft.com/office/drawing/2014/main" id="{8F1594E5-F050-4984-A2D2-CE8FE7885156}"/>
              </a:ext>
            </a:extLst>
          </p:cNvPr>
          <p:cNvSpPr>
            <a:spLocks xmlns:a="http://schemas.openxmlformats.org/drawingml/2006/main" noGrp="1"/>
          </p:cNvSpPr>
          <p:nvPr/>
        </p:nvSpPr>
        <p:spPr>
          <a:xfrm xmlns:a="http://schemas.openxmlformats.org/drawingml/2006/main">
            <a:off x="1666875" y="2800350"/>
            <a:ext cx="9286875" cy="0"/>
          </a:xfrm>
          <a:prstGeom xmlns:a="http://schemas.openxmlformats.org/drawingml/2006/main" prst="line">
            <a:avLst/>
          </a:prstGeom>
          <a:noFill xmlns:a="http://schemas.openxmlformats.org/drawingml/2006/main"/>
          <a:ln xmlns:a="http://schemas.openxmlformats.org/drawingml/2006/main" w="9525">
            <a:solidFill>
              <a:srgbClr val="C8D4CE"/>
            </a:solidFill>
            <a:prstDash val="solid"/>
          </a:ln>
        </p:spPr>
      </p:sp>
      <p:sp>
        <p:nvSpPr>
          <p:cNvPr id="8" name="">
            <a:extLst xmlns:a="http://schemas.openxmlformats.org/drawingml/2006/main">
              <a:ext uri="{FF2B5EF4-FFF2-40B4-BE49-F238E27FC236}">
                <a16:creationId xmlns:a16="http://schemas.microsoft.com/office/drawing/2014/main" id="{A86F972A-FE6D-46D5-8E28-5A4A039420DD}"/>
              </a:ext>
            </a:extLst>
          </p:cNvPr>
          <p:cNvSpPr>
            <a:spLocks xmlns:a="http://schemas.openxmlformats.org/drawingml/2006/main" noGrp="1"/>
          </p:cNvSpPr>
          <p:nvPr/>
        </p:nvSpPr>
        <p:spPr>
          <a:xfrm xmlns:a="http://schemas.openxmlformats.org/drawingml/2006/main">
            <a:off x="742950" y="311467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250" b="1">
                <a:solidFill>
                  <a:srgbClr val="D5A63A"/>
                </a:solidFill>
                <a:latin typeface="Arial"/>
                <a:ea typeface="Arial"/>
                <a:cs typeface="Arial"/>
              </a:defRPr>
            </a:defPPr>
          </a:lstStyle>
          <a:p xmlns:a="http://schemas.openxmlformats.org/drawingml/2006/main">
            <a:pPr algn="l">
              <a:defRPr sz="2250" b="1">
                <a:solidFill>
                  <a:srgbClr val="D5A63A"/>
                </a:solidFill>
                <a:latin typeface="Arial"/>
                <a:ea typeface="Arial"/>
                <a:cs typeface="Arial"/>
              </a:defRPr>
            </a:pPr>
            <a:r>
              <a:rPr sz="2250" b="1">
                <a:solidFill>
                  <a:srgbClr val="D5A63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970C0A6-034C-44CA-899F-14D0E8EFE822}"/>
              </a:ext>
            </a:extLst>
          </p:cNvPr>
          <p:cNvSpPr>
            <a:spLocks xmlns:a="http://schemas.openxmlformats.org/drawingml/2006/main" noGrp="1"/>
          </p:cNvSpPr>
          <p:nvPr/>
        </p:nvSpPr>
        <p:spPr>
          <a:xfrm xmlns:a="http://schemas.openxmlformats.org/drawingml/2006/main">
            <a:off x="1666875" y="311467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950" b="1">
                <a:solidFill>
                  <a:srgbClr val="123D32"/>
                </a:solidFill>
                <a:latin typeface="Arial"/>
                <a:ea typeface="Arial"/>
                <a:cs typeface="Arial"/>
              </a:defRPr>
            </a:defPPr>
          </a:lstStyle>
          <a:p xmlns:a="http://schemas.openxmlformats.org/drawingml/2006/main">
            <a:pPr algn="l">
              <a:defRPr sz="1950" b="1">
                <a:solidFill>
                  <a:srgbClr val="123D32"/>
                </a:solidFill>
                <a:latin typeface="Arial"/>
                <a:ea typeface="Arial"/>
                <a:cs typeface="Arial"/>
              </a:defRPr>
            </a:pPr>
            <a:r>
              <a:rPr sz="1950" b="1">
                <a:solidFill>
                  <a:srgbClr val="123D32"/>
                </a:solidFill>
                <a:latin typeface="Arial"/>
                <a:ea typeface="Arial"/>
                <a:cs typeface="Arial"/>
              </a:rPr>
              <a:t>Doctor</a:t>
            </a:r>
          </a:p>
        </p:txBody>
      </p:sp>
      <p:sp>
        <p:nvSpPr>
          <p:cNvPr id="10" name="">
            <a:extLst xmlns:a="http://schemas.openxmlformats.org/drawingml/2006/main">
              <a:ext uri="{FF2B5EF4-FFF2-40B4-BE49-F238E27FC236}">
                <a16:creationId xmlns:a16="http://schemas.microsoft.com/office/drawing/2014/main" id="{42447548-1CAC-41E0-86EC-635E071E9092}"/>
              </a:ext>
            </a:extLst>
          </p:cNvPr>
          <p:cNvSpPr>
            <a:spLocks xmlns:a="http://schemas.openxmlformats.org/drawingml/2006/main" noGrp="1"/>
          </p:cNvSpPr>
          <p:nvPr/>
        </p:nvSpPr>
        <p:spPr>
          <a:xfrm xmlns:a="http://schemas.openxmlformats.org/drawingml/2006/main">
            <a:off x="3714750" y="3114675"/>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0">
                <a:solidFill>
                  <a:srgbClr val="16211D"/>
                </a:solidFill>
                <a:latin typeface="Arial"/>
                <a:ea typeface="Arial"/>
                <a:cs typeface="Arial"/>
              </a:defRPr>
            </a:defPPr>
          </a:lstStyle>
          <a:p xmlns:a="http://schemas.openxmlformats.org/drawingml/2006/main">
            <a:pPr algn="l">
              <a:defRPr sz="1725" b="0">
                <a:solidFill>
                  <a:srgbClr val="16211D"/>
                </a:solidFill>
                <a:latin typeface="Arial"/>
                <a:ea typeface="Arial"/>
                <a:cs typeface="Arial"/>
              </a:defRPr>
            </a:pPr>
            <a:r>
              <a:rPr sz="1725" b="0">
                <a:solidFill>
                  <a:srgbClr val="16211D"/>
                </a:solidFill>
                <a:latin typeface="Arial"/>
                <a:ea typeface="Arial"/>
                <a:cs typeface="Arial"/>
              </a:rPr>
              <a:t>Reviews the patient and decides a future operation date</a:t>
            </a:r>
          </a:p>
        </p:txBody>
      </p:sp>
      <p:sp>
        <p:nvSpPr>
          <p:cNvPr id="11" name="">
            <a:extLst xmlns:a="http://schemas.openxmlformats.org/drawingml/2006/main">
              <a:ext uri="{FF2B5EF4-FFF2-40B4-BE49-F238E27FC236}">
                <a16:creationId xmlns:a16="http://schemas.microsoft.com/office/drawing/2014/main" id="{952C4285-7983-4C21-A400-2F8E1F6DD3E8}"/>
              </a:ext>
            </a:extLst>
          </p:cNvPr>
          <p:cNvSpPr>
            <a:spLocks xmlns:a="http://schemas.openxmlformats.org/drawingml/2006/main" noGrp="1"/>
          </p:cNvSpPr>
          <p:nvPr/>
        </p:nvSpPr>
        <p:spPr>
          <a:xfrm xmlns:a="http://schemas.openxmlformats.org/drawingml/2006/main">
            <a:off x="1666875" y="3800475"/>
            <a:ext cx="9286875" cy="0"/>
          </a:xfrm>
          <a:prstGeom xmlns:a="http://schemas.openxmlformats.org/drawingml/2006/main" prst="line">
            <a:avLst/>
          </a:prstGeom>
          <a:noFill xmlns:a="http://schemas.openxmlformats.org/drawingml/2006/main"/>
          <a:ln xmlns:a="http://schemas.openxmlformats.org/drawingml/2006/main" w="9525">
            <a:solidFill>
              <a:srgbClr val="C8D4CE"/>
            </a:solidFill>
            <a:prstDash val="solid"/>
          </a:ln>
        </p:spPr>
      </p:sp>
      <p:sp>
        <p:nvSpPr>
          <p:cNvPr id="12" name="">
            <a:extLst xmlns:a="http://schemas.openxmlformats.org/drawingml/2006/main">
              <a:ext uri="{FF2B5EF4-FFF2-40B4-BE49-F238E27FC236}">
                <a16:creationId xmlns:a16="http://schemas.microsoft.com/office/drawing/2014/main" id="{B0DF4E47-7FE3-4D62-AACD-EFEF9ECC76F2}"/>
              </a:ext>
            </a:extLst>
          </p:cNvPr>
          <p:cNvSpPr>
            <a:spLocks xmlns:a="http://schemas.openxmlformats.org/drawingml/2006/main" noGrp="1"/>
          </p:cNvSpPr>
          <p:nvPr/>
        </p:nvSpPr>
        <p:spPr>
          <a:xfrm xmlns:a="http://schemas.openxmlformats.org/drawingml/2006/main">
            <a:off x="742950" y="4114800"/>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250" b="1">
                <a:solidFill>
                  <a:srgbClr val="D5A63A"/>
                </a:solidFill>
                <a:latin typeface="Arial"/>
                <a:ea typeface="Arial"/>
                <a:cs typeface="Arial"/>
              </a:defRPr>
            </a:defPPr>
          </a:lstStyle>
          <a:p xmlns:a="http://schemas.openxmlformats.org/drawingml/2006/main">
            <a:pPr algn="l">
              <a:defRPr sz="2250" b="1">
                <a:solidFill>
                  <a:srgbClr val="D5A63A"/>
                </a:solidFill>
                <a:latin typeface="Arial"/>
                <a:ea typeface="Arial"/>
                <a:cs typeface="Arial"/>
              </a:defRPr>
            </a:pPr>
            <a:r>
              <a:rPr sz="2250" b="1">
                <a:solidFill>
                  <a:srgbClr val="D5A63A"/>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67709723-F087-420F-B16E-30F6F35C8B1F}"/>
              </a:ext>
            </a:extLst>
          </p:cNvPr>
          <p:cNvSpPr>
            <a:spLocks xmlns:a="http://schemas.openxmlformats.org/drawingml/2006/main" noGrp="1"/>
          </p:cNvSpPr>
          <p:nvPr/>
        </p:nvSpPr>
        <p:spPr>
          <a:xfrm xmlns:a="http://schemas.openxmlformats.org/drawingml/2006/main">
            <a:off x="1666875" y="411480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950" b="1">
                <a:solidFill>
                  <a:srgbClr val="123D32"/>
                </a:solidFill>
                <a:latin typeface="Arial"/>
                <a:ea typeface="Arial"/>
                <a:cs typeface="Arial"/>
              </a:defRPr>
            </a:defPPr>
          </a:lstStyle>
          <a:p xmlns:a="http://schemas.openxmlformats.org/drawingml/2006/main">
            <a:pPr algn="l">
              <a:defRPr sz="1950" b="1">
                <a:solidFill>
                  <a:srgbClr val="123D32"/>
                </a:solidFill>
                <a:latin typeface="Arial"/>
                <a:ea typeface="Arial"/>
                <a:cs typeface="Arial"/>
              </a:defRPr>
            </a:pPr>
            <a:r>
              <a:rPr sz="1950" b="1">
                <a:solidFill>
                  <a:srgbClr val="123D32"/>
                </a:solidFill>
                <a:latin typeface="Arial"/>
                <a:ea typeface="Arial"/>
                <a:cs typeface="Arial"/>
              </a:rPr>
              <a:t>OT desk</a:t>
            </a:r>
          </a:p>
        </p:txBody>
      </p:sp>
      <p:sp>
        <p:nvSpPr>
          <p:cNvPr id="14" name="">
            <a:extLst xmlns:a="http://schemas.openxmlformats.org/drawingml/2006/main">
              <a:ext uri="{FF2B5EF4-FFF2-40B4-BE49-F238E27FC236}">
                <a16:creationId xmlns:a16="http://schemas.microsoft.com/office/drawing/2014/main" id="{1426115D-4540-4CB1-9BE0-C83BFBCC3776}"/>
              </a:ext>
            </a:extLst>
          </p:cNvPr>
          <p:cNvSpPr>
            <a:spLocks xmlns:a="http://schemas.openxmlformats.org/drawingml/2006/main" noGrp="1"/>
          </p:cNvSpPr>
          <p:nvPr/>
        </p:nvSpPr>
        <p:spPr>
          <a:xfrm xmlns:a="http://schemas.openxmlformats.org/drawingml/2006/main">
            <a:off x="3714750" y="411480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0">
                <a:solidFill>
                  <a:srgbClr val="16211D"/>
                </a:solidFill>
                <a:latin typeface="Arial"/>
                <a:ea typeface="Arial"/>
                <a:cs typeface="Arial"/>
              </a:defRPr>
            </a:defPPr>
          </a:lstStyle>
          <a:p xmlns:a="http://schemas.openxmlformats.org/drawingml/2006/main">
            <a:pPr algn="l">
              <a:defRPr sz="1725" b="0">
                <a:solidFill>
                  <a:srgbClr val="16211D"/>
                </a:solidFill>
                <a:latin typeface="Arial"/>
                <a:ea typeface="Arial"/>
                <a:cs typeface="Arial"/>
              </a:defRPr>
            </a:pPr>
            <a:r>
              <a:rPr sz="1725" b="0">
                <a:solidFill>
                  <a:srgbClr val="16211D"/>
                </a:solidFill>
                <a:latin typeface="Arial"/>
                <a:ea typeface="Arial"/>
                <a:cs typeface="Arial"/>
              </a:rPr>
              <a:t>Runs tomorrow's list and updates the live status</a:t>
            </a:r>
          </a:p>
        </p:txBody>
      </p:sp>
      <p:sp>
        <p:nvSpPr>
          <p:cNvPr id="15" name="">
            <a:extLst xmlns:a="http://schemas.openxmlformats.org/drawingml/2006/main">
              <a:ext uri="{FF2B5EF4-FFF2-40B4-BE49-F238E27FC236}">
                <a16:creationId xmlns:a16="http://schemas.microsoft.com/office/drawing/2014/main" id="{BE71D19E-C1B5-4B13-86F9-422ECA4B3220}"/>
              </a:ext>
            </a:extLst>
          </p:cNvPr>
          <p:cNvSpPr>
            <a:spLocks xmlns:a="http://schemas.openxmlformats.org/drawingml/2006/main" noGrp="1"/>
          </p:cNvSpPr>
          <p:nvPr/>
        </p:nvSpPr>
        <p:spPr>
          <a:xfrm xmlns:a="http://schemas.openxmlformats.org/drawingml/2006/main">
            <a:off x="1666875" y="4800600"/>
            <a:ext cx="9286875" cy="0"/>
          </a:xfrm>
          <a:prstGeom xmlns:a="http://schemas.openxmlformats.org/drawingml/2006/main" prst="line">
            <a:avLst/>
          </a:prstGeom>
          <a:noFill xmlns:a="http://schemas.openxmlformats.org/drawingml/2006/main"/>
          <a:ln xmlns:a="http://schemas.openxmlformats.org/drawingml/2006/main" w="9525">
            <a:solidFill>
              <a:srgbClr val="C8D4CE"/>
            </a:solidFill>
            <a:prstDash val="solid"/>
          </a:ln>
        </p:spPr>
      </p:sp>
      <p:sp>
        <p:nvSpPr>
          <p:cNvPr id="16" name="">
            <a:extLst xmlns:a="http://schemas.openxmlformats.org/drawingml/2006/main">
              <a:ext uri="{FF2B5EF4-FFF2-40B4-BE49-F238E27FC236}">
                <a16:creationId xmlns:a16="http://schemas.microsoft.com/office/drawing/2014/main" id="{295221D5-88BB-422F-860E-D785BA27AED4}"/>
              </a:ext>
            </a:extLst>
          </p:cNvPr>
          <p:cNvSpPr>
            <a:spLocks xmlns:a="http://schemas.openxmlformats.org/drawingml/2006/main" noGrp="1"/>
          </p:cNvSpPr>
          <p:nvPr/>
        </p:nvSpPr>
        <p:spPr>
          <a:xfrm xmlns:a="http://schemas.openxmlformats.org/drawingml/2006/main">
            <a:off x="742950" y="5114925"/>
            <a:ext cx="685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2250" b="1">
                <a:solidFill>
                  <a:srgbClr val="D5A63A"/>
                </a:solidFill>
                <a:latin typeface="Arial"/>
                <a:ea typeface="Arial"/>
                <a:cs typeface="Arial"/>
              </a:defRPr>
            </a:defPPr>
          </a:lstStyle>
          <a:p xmlns:a="http://schemas.openxmlformats.org/drawingml/2006/main">
            <a:pPr algn="l">
              <a:defRPr sz="2250" b="1">
                <a:solidFill>
                  <a:srgbClr val="D5A63A"/>
                </a:solidFill>
                <a:latin typeface="Arial"/>
                <a:ea typeface="Arial"/>
                <a:cs typeface="Arial"/>
              </a:defRPr>
            </a:pPr>
            <a:r>
              <a:rPr sz="2250" b="1">
                <a:solidFill>
                  <a:srgbClr val="D5A63A"/>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713CF9EF-6162-4447-BAC2-52875EB52DAC}"/>
              </a:ext>
            </a:extLst>
          </p:cNvPr>
          <p:cNvSpPr>
            <a:spLocks xmlns:a="http://schemas.openxmlformats.org/drawingml/2006/main" noGrp="1"/>
          </p:cNvSpPr>
          <p:nvPr/>
        </p:nvSpPr>
        <p:spPr>
          <a:xfrm xmlns:a="http://schemas.openxmlformats.org/drawingml/2006/main">
            <a:off x="1666875" y="51149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950" b="1">
                <a:solidFill>
                  <a:srgbClr val="123D32"/>
                </a:solidFill>
                <a:latin typeface="Arial"/>
                <a:ea typeface="Arial"/>
                <a:cs typeface="Arial"/>
              </a:defRPr>
            </a:defPPr>
          </a:lstStyle>
          <a:p xmlns:a="http://schemas.openxmlformats.org/drawingml/2006/main">
            <a:pPr algn="l">
              <a:defRPr sz="1950" b="1">
                <a:solidFill>
                  <a:srgbClr val="123D32"/>
                </a:solidFill>
                <a:latin typeface="Arial"/>
                <a:ea typeface="Arial"/>
                <a:cs typeface="Arial"/>
              </a:defRPr>
            </a:pPr>
            <a:r>
              <a:rPr sz="1950" b="1">
                <a:solidFill>
                  <a:srgbClr val="123D32"/>
                </a:solidFill>
                <a:latin typeface="Arial"/>
                <a:ea typeface="Arial"/>
                <a:cs typeface="Arial"/>
              </a:rPr>
              <a:t>Waiting area</a:t>
            </a:r>
          </a:p>
        </p:txBody>
      </p:sp>
      <p:sp>
        <p:nvSpPr>
          <p:cNvPr id="18" name="">
            <a:extLst xmlns:a="http://schemas.openxmlformats.org/drawingml/2006/main">
              <a:ext uri="{FF2B5EF4-FFF2-40B4-BE49-F238E27FC236}">
                <a16:creationId xmlns:a16="http://schemas.microsoft.com/office/drawing/2014/main" id="{D3CB2DBE-0B35-491D-AB1D-CD1FE98E21E4}"/>
              </a:ext>
            </a:extLst>
          </p:cNvPr>
          <p:cNvSpPr>
            <a:spLocks xmlns:a="http://schemas.openxmlformats.org/drawingml/2006/main" noGrp="1"/>
          </p:cNvSpPr>
          <p:nvPr/>
        </p:nvSpPr>
        <p:spPr>
          <a:xfrm xmlns:a="http://schemas.openxmlformats.org/drawingml/2006/main">
            <a:off x="3714750" y="5114925"/>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0">
                <a:solidFill>
                  <a:srgbClr val="16211D"/>
                </a:solidFill>
                <a:latin typeface="Arial"/>
                <a:ea typeface="Arial"/>
                <a:cs typeface="Arial"/>
              </a:defRPr>
            </a:defPPr>
          </a:lstStyle>
          <a:p xmlns:a="http://schemas.openxmlformats.org/drawingml/2006/main">
            <a:pPr algn="l">
              <a:defRPr sz="1725" b="0">
                <a:solidFill>
                  <a:srgbClr val="16211D"/>
                </a:solidFill>
                <a:latin typeface="Arial"/>
                <a:ea typeface="Arial"/>
                <a:cs typeface="Arial"/>
              </a:defRPr>
            </a:pPr>
            <a:r>
              <a:rPr sz="1725" b="0">
                <a:solidFill>
                  <a:srgbClr val="16211D"/>
                </a:solidFill>
                <a:latin typeface="Arial"/>
                <a:ea typeface="Arial"/>
                <a:cs typeface="Arial"/>
              </a:rPr>
              <a:t>Needs a clear, silent view of current and upcoming patients</a:t>
            </a:r>
          </a:p>
        </p:txBody>
      </p:sp>
      <p:sp>
        <p:nvSpPr>
          <p:cNvPr id="19" name="">
            <a:extLst xmlns:a="http://schemas.openxmlformats.org/drawingml/2006/main">
              <a:ext uri="{FF2B5EF4-FFF2-40B4-BE49-F238E27FC236}">
                <a16:creationId xmlns:a16="http://schemas.microsoft.com/office/drawing/2014/main" id="{1E79B086-57DF-4A79-8E5F-66EA7137A6E7}"/>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The proposal keeps the clinical decision on paper and in the doctor's hands while simplifying coordination.</a:t>
            </a:r>
          </a:p>
        </p:txBody>
      </p:sp>
      <p:sp>
        <p:nvSpPr>
          <p:cNvPr id="20" name="">
            <a:extLst xmlns:a="http://schemas.openxmlformats.org/drawingml/2006/main">
              <a:ext uri="{FF2B5EF4-FFF2-40B4-BE49-F238E27FC236}">
                <a16:creationId xmlns:a16="http://schemas.microsoft.com/office/drawing/2014/main" id="{E6DD1238-9E4B-4178-952C-9D6F5BD87CB9}"/>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1387063943"/>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A85F3B32-EFF4-4FF9-BF10-DC847725F8B4}"/>
              </a:ext>
            </a:extLst>
          </p:cNvPr>
          <p:cNvCxnSpPr>
            <a:stCxn xmlns:a="http://schemas.openxmlformats.org/drawingml/2006/main" id="22" idx="6"/>
            <a:endCxn xmlns:a="http://schemas.openxmlformats.org/drawingml/2006/main" id="27" idx="2"/>
          </p:cNvCxnSpPr>
          <p:nvPr/>
        </p:nvCxnSpPr>
        <p:spPr>
          <a:xfrm xmlns:a="http://schemas.openxmlformats.org/drawingml/2006/main">
            <a:off x="9039225" y="2581275"/>
            <a:ext cx="1104900" cy="0"/>
          </a:xfrm>
          <a:prstGeom xmlns:a="http://schemas.openxmlformats.org/drawingml/2006/main" prst="straightConnector1">
            <a:avLst/>
          </a:prstGeom>
          <a:ln xmlns:a="http://schemas.openxmlformats.org/drawingml/2006/main" w="28575">
            <a:solidFill>
              <a:srgbClr val="D5A63A"/>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AF121EA3-3434-48A8-A795-AC6F7109A313}"/>
              </a:ext>
            </a:extLst>
          </p:cNvPr>
          <p:cNvCxnSpPr>
            <a:stCxn xmlns:a="http://schemas.openxmlformats.org/drawingml/2006/main" id="17" idx="6"/>
            <a:endCxn xmlns:a="http://schemas.openxmlformats.org/drawingml/2006/main" id="22" idx="2"/>
          </p:cNvCxnSpPr>
          <p:nvPr/>
        </p:nvCxnSpPr>
        <p:spPr>
          <a:xfrm xmlns:a="http://schemas.openxmlformats.org/drawingml/2006/main">
            <a:off x="7153275" y="2581275"/>
            <a:ext cx="1104900" cy="0"/>
          </a:xfrm>
          <a:prstGeom xmlns:a="http://schemas.openxmlformats.org/drawingml/2006/main" prst="straightConnector1">
            <a:avLst/>
          </a:prstGeom>
          <a:ln xmlns:a="http://schemas.openxmlformats.org/drawingml/2006/main" w="28575">
            <a:solidFill>
              <a:srgbClr val="D5A63A"/>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6F4D7604-9D24-4052-AFFE-99F2EB88CED2}"/>
              </a:ext>
            </a:extLst>
          </p:cNvPr>
          <p:cNvCxnSpPr>
            <a:stCxn xmlns:a="http://schemas.openxmlformats.org/drawingml/2006/main" id="12" idx="6"/>
            <a:endCxn xmlns:a="http://schemas.openxmlformats.org/drawingml/2006/main" id="17" idx="2"/>
          </p:cNvCxnSpPr>
          <p:nvPr/>
        </p:nvCxnSpPr>
        <p:spPr>
          <a:xfrm xmlns:a="http://schemas.openxmlformats.org/drawingml/2006/main">
            <a:off x="5267325" y="2581275"/>
            <a:ext cx="1104900" cy="0"/>
          </a:xfrm>
          <a:prstGeom xmlns:a="http://schemas.openxmlformats.org/drawingml/2006/main" prst="straightConnector1">
            <a:avLst/>
          </a:prstGeom>
          <a:ln xmlns:a="http://schemas.openxmlformats.org/drawingml/2006/main" w="28575">
            <a:solidFill>
              <a:srgbClr val="D5A63A"/>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574B9940-F369-4361-AB28-52A32425821E}"/>
              </a:ext>
            </a:extLst>
          </p:cNvPr>
          <p:cNvCxnSpPr>
            <a:stCxn xmlns:a="http://schemas.openxmlformats.org/drawingml/2006/main" id="7" idx="6"/>
            <a:endCxn xmlns:a="http://schemas.openxmlformats.org/drawingml/2006/main" id="12" idx="2"/>
          </p:cNvCxnSpPr>
          <p:nvPr/>
        </p:nvCxnSpPr>
        <p:spPr>
          <a:xfrm xmlns:a="http://schemas.openxmlformats.org/drawingml/2006/main">
            <a:off x="3381375" y="2581275"/>
            <a:ext cx="1104900" cy="0"/>
          </a:xfrm>
          <a:prstGeom xmlns:a="http://schemas.openxmlformats.org/drawingml/2006/main" prst="straightConnector1">
            <a:avLst/>
          </a:prstGeom>
          <a:ln xmlns:a="http://schemas.openxmlformats.org/drawingml/2006/main" w="28575">
            <a:solidFill>
              <a:srgbClr val="D5A63A"/>
            </a:solidFill>
            <a:prstDash val="solid"/>
            <a:tailEnd type="triangle" w="sm" len="sm"/>
          </a:ln>
        </p:spPr>
      </p:cxnSp>
      <p:cxnSp>
        <p:nvCxnSpPr>
          <p:cNvPr id="11" name="">
            <a:extLst xmlns:a="http://schemas.openxmlformats.org/drawingml/2006/main">
              <a:ext uri="{FF2B5EF4-FFF2-40B4-BE49-F238E27FC236}">
                <a16:creationId xmlns:a16="http://schemas.microsoft.com/office/drawing/2014/main" id="{EB4DFC6E-3362-4537-A8C5-84F6043A6F02}"/>
              </a:ext>
            </a:extLst>
          </p:cNvPr>
          <p:cNvCxnSpPr>
            <a:stCxn xmlns:a="http://schemas.openxmlformats.org/drawingml/2006/main" id="3" idx="6"/>
            <a:endCxn xmlns:a="http://schemas.openxmlformats.org/drawingml/2006/main" id="7" idx="2"/>
          </p:cNvCxnSpPr>
          <p:nvPr/>
        </p:nvCxnSpPr>
        <p:spPr>
          <a:xfrm xmlns:a="http://schemas.openxmlformats.org/drawingml/2006/main">
            <a:off x="1495425" y="2581275"/>
            <a:ext cx="1104900" cy="0"/>
          </a:xfrm>
          <a:prstGeom xmlns:a="http://schemas.openxmlformats.org/drawingml/2006/main" prst="straightConnector1">
            <a:avLst/>
          </a:prstGeom>
          <a:ln xmlns:a="http://schemas.openxmlformats.org/drawingml/2006/main" w="28575">
            <a:solidFill>
              <a:srgbClr val="D5A63A"/>
            </a:solidFill>
            <a:prstDash val="solid"/>
            <a:tailEnd type="triangle" w="sm" len="sm"/>
          </a:ln>
        </p:spPr>
      </p:cxnSp>
      <p:sp>
        <p:nvSpPr>
          <p:cNvPr id="35" name="">
            <a:extLst xmlns:a="http://schemas.openxmlformats.org/drawingml/2006/main">
              <a:ext uri="{FF2B5EF4-FFF2-40B4-BE49-F238E27FC236}">
                <a16:creationId xmlns:a16="http://schemas.microsoft.com/office/drawing/2014/main" id="{64C11A3A-8267-48EB-8A4E-26456166C952}"/>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One patient record from reception to completion</a:t>
            </a:r>
          </a:p>
        </p:txBody>
      </p:sp>
      <p:sp>
        <p:nvSpPr>
          <p:cNvPr id="2" name="">
            <a:extLst xmlns:a="http://schemas.openxmlformats.org/drawingml/2006/main">
              <a:ext uri="{FF2B5EF4-FFF2-40B4-BE49-F238E27FC236}">
                <a16:creationId xmlns:a16="http://schemas.microsoft.com/office/drawing/2014/main" id="{E315F15F-93E1-4E32-BF7D-D81E0AD8B6E4}"/>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EEBDFA40-419D-4373-8722-25760D54E2EA}"/>
              </a:ext>
            </a:extLst>
          </p:cNvPr>
          <p:cNvSpPr>
            <a:spLocks xmlns:a="http://schemas.openxmlformats.org/drawingml/2006/main" noGrp="1"/>
          </p:cNvSpPr>
          <p:nvPr/>
        </p:nvSpPr>
        <p:spPr>
          <a:xfrm xmlns:a="http://schemas.openxmlformats.org/drawingml/2006/main">
            <a:off x="714375" y="2190750"/>
            <a:ext cx="781050" cy="781050"/>
          </a:xfrm>
          <a:prstGeom xmlns:a="http://schemas.openxmlformats.org/drawingml/2006/main" prst="ellipse">
            <a:avLst/>
          </a:prstGeom>
          <a:solidFill xmlns:a="http://schemas.openxmlformats.org/drawingml/2006/main">
            <a:srgbClr val="123D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62E4BBA-781B-4552-BA4C-E232E460F7EF}"/>
              </a:ext>
            </a:extLst>
          </p:cNvPr>
          <p:cNvSpPr>
            <a:spLocks xmlns:a="http://schemas.openxmlformats.org/drawingml/2006/main" noGrp="1"/>
          </p:cNvSpPr>
          <p:nvPr/>
        </p:nvSpPr>
        <p:spPr>
          <a:xfrm xmlns:a="http://schemas.openxmlformats.org/drawingml/2006/main">
            <a:off x="714375" y="219075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7A5DDBBF-0287-4390-A0C2-DC84C9331491}"/>
              </a:ext>
            </a:extLst>
          </p:cNvPr>
          <p:cNvSpPr>
            <a:spLocks xmlns:a="http://schemas.openxmlformats.org/drawingml/2006/main" noGrp="1"/>
          </p:cNvSpPr>
          <p:nvPr/>
        </p:nvSpPr>
        <p:spPr>
          <a:xfrm xmlns:a="http://schemas.openxmlformats.org/drawingml/2006/main">
            <a:off x="314325" y="3238500"/>
            <a:ext cx="158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725" b="1">
                <a:solidFill>
                  <a:srgbClr val="123D32"/>
                </a:solidFill>
                <a:latin typeface="Arial"/>
                <a:ea typeface="Arial"/>
                <a:cs typeface="Arial"/>
              </a:defRPr>
            </a:defPPr>
          </a:lstStyle>
          <a:p xmlns:a="http://schemas.openxmlformats.org/drawingml/2006/main">
            <a:pPr algn="ctr">
              <a:defRPr sz="1725" b="1">
                <a:solidFill>
                  <a:srgbClr val="123D32"/>
                </a:solidFill>
                <a:latin typeface="Arial"/>
                <a:ea typeface="Arial"/>
                <a:cs typeface="Arial"/>
              </a:defRPr>
            </a:pPr>
            <a:r>
              <a:rPr sz="1725" b="1">
                <a:solidFill>
                  <a:srgbClr val="123D32"/>
                </a:solidFill>
                <a:latin typeface="Arial"/>
                <a:ea typeface="Arial"/>
                <a:cs typeface="Arial"/>
              </a:rPr>
              <a:t>Register</a:t>
            </a:r>
          </a:p>
        </p:txBody>
      </p:sp>
      <p:sp>
        <p:nvSpPr>
          <p:cNvPr id="6" name="">
            <a:extLst xmlns:a="http://schemas.openxmlformats.org/drawingml/2006/main">
              <a:ext uri="{FF2B5EF4-FFF2-40B4-BE49-F238E27FC236}">
                <a16:creationId xmlns:a16="http://schemas.microsoft.com/office/drawing/2014/main" id="{6FA0C9A3-D5D5-4CC1-8B34-FAC3D4AC4944}"/>
              </a:ext>
            </a:extLst>
          </p:cNvPr>
          <p:cNvSpPr>
            <a:spLocks xmlns:a="http://schemas.openxmlformats.org/drawingml/2006/main" noGrp="1"/>
          </p:cNvSpPr>
          <p:nvPr/>
        </p:nvSpPr>
        <p:spPr>
          <a:xfrm xmlns:a="http://schemas.openxmlformats.org/drawingml/2006/main">
            <a:off x="219075" y="3733800"/>
            <a:ext cx="1771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0">
                <a:solidFill>
                  <a:srgbClr val="5C6A64"/>
                </a:solidFill>
                <a:latin typeface="Arial"/>
                <a:ea typeface="Arial"/>
                <a:cs typeface="Arial"/>
              </a:defRPr>
            </a:defPPr>
          </a:lstStyle>
          <a:p xmlns:a="http://schemas.openxmlformats.org/drawingml/2006/main">
            <a:pPr algn="ctr">
              <a:defRPr sz="1350" b="0">
                <a:solidFill>
                  <a:srgbClr val="5C6A64"/>
                </a:solidFill>
                <a:latin typeface="Arial"/>
                <a:ea typeface="Arial"/>
                <a:cs typeface="Arial"/>
              </a:defRPr>
            </a:pPr>
            <a:r>
              <a:rPr sz="1350" b="0">
                <a:solidFill>
                  <a:srgbClr val="5C6A64"/>
                </a:solidFill>
                <a:latin typeface="Arial"/>
                <a:ea typeface="Arial"/>
                <a:cs typeface="Arial"/>
              </a:rPr>
              <a:t>Essential details only</a:t>
            </a:r>
          </a:p>
        </p:txBody>
      </p:sp>
      <p:sp>
        <p:nvSpPr>
          <p:cNvPr id="7" name="">
            <a:extLst xmlns:a="http://schemas.openxmlformats.org/drawingml/2006/main">
              <a:ext uri="{FF2B5EF4-FFF2-40B4-BE49-F238E27FC236}">
                <a16:creationId xmlns:a16="http://schemas.microsoft.com/office/drawing/2014/main" id="{F50F1BD9-C5B7-4E0E-8460-17F0F72013BE}"/>
              </a:ext>
            </a:extLst>
          </p:cNvPr>
          <p:cNvSpPr>
            <a:spLocks xmlns:a="http://schemas.openxmlformats.org/drawingml/2006/main" noGrp="1"/>
          </p:cNvSpPr>
          <p:nvPr/>
        </p:nvSpPr>
        <p:spPr>
          <a:xfrm xmlns:a="http://schemas.openxmlformats.org/drawingml/2006/main">
            <a:off x="2600325" y="2190750"/>
            <a:ext cx="781050" cy="781050"/>
          </a:xfrm>
          <a:prstGeom xmlns:a="http://schemas.openxmlformats.org/drawingml/2006/main" prst="ellipse">
            <a:avLst/>
          </a:prstGeom>
          <a:solidFill xmlns:a="http://schemas.openxmlformats.org/drawingml/2006/main">
            <a:srgbClr val="123D3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31D72F-3390-40E7-A2EB-ECAB8F2CA8A4}"/>
              </a:ext>
            </a:extLst>
          </p:cNvPr>
          <p:cNvSpPr>
            <a:spLocks xmlns:a="http://schemas.openxmlformats.org/drawingml/2006/main" noGrp="1"/>
          </p:cNvSpPr>
          <p:nvPr/>
        </p:nvSpPr>
        <p:spPr>
          <a:xfrm xmlns:a="http://schemas.openxmlformats.org/drawingml/2006/main">
            <a:off x="2600325" y="219075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5E8D4D61-3C63-4413-A860-09C3111D8031}"/>
              </a:ext>
            </a:extLst>
          </p:cNvPr>
          <p:cNvSpPr>
            <a:spLocks xmlns:a="http://schemas.openxmlformats.org/drawingml/2006/main" noGrp="1"/>
          </p:cNvSpPr>
          <p:nvPr/>
        </p:nvSpPr>
        <p:spPr>
          <a:xfrm xmlns:a="http://schemas.openxmlformats.org/drawingml/2006/main">
            <a:off x="2200275" y="3238500"/>
            <a:ext cx="158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725" b="1">
                <a:solidFill>
                  <a:srgbClr val="123D32"/>
                </a:solidFill>
                <a:latin typeface="Arial"/>
                <a:ea typeface="Arial"/>
                <a:cs typeface="Arial"/>
              </a:defRPr>
            </a:defPPr>
          </a:lstStyle>
          <a:p xmlns:a="http://schemas.openxmlformats.org/drawingml/2006/main">
            <a:pPr algn="ctr">
              <a:defRPr sz="1725" b="1">
                <a:solidFill>
                  <a:srgbClr val="123D32"/>
                </a:solidFill>
                <a:latin typeface="Arial"/>
                <a:ea typeface="Arial"/>
                <a:cs typeface="Arial"/>
              </a:defRPr>
            </a:pPr>
            <a:r>
              <a:rPr sz="1725" b="1">
                <a:solidFill>
                  <a:srgbClr val="123D32"/>
                </a:solidFill>
                <a:latin typeface="Arial"/>
                <a:ea typeface="Arial"/>
                <a:cs typeface="Arial"/>
              </a:rPr>
              <a:t>Issue token</a:t>
            </a:r>
          </a:p>
        </p:txBody>
      </p:sp>
      <p:sp>
        <p:nvSpPr>
          <p:cNvPr id="10" name="">
            <a:extLst xmlns:a="http://schemas.openxmlformats.org/drawingml/2006/main">
              <a:ext uri="{FF2B5EF4-FFF2-40B4-BE49-F238E27FC236}">
                <a16:creationId xmlns:a16="http://schemas.microsoft.com/office/drawing/2014/main" id="{D2BA8255-8F63-4A39-B7AB-07F2B1C05003}"/>
              </a:ext>
            </a:extLst>
          </p:cNvPr>
          <p:cNvSpPr>
            <a:spLocks xmlns:a="http://schemas.openxmlformats.org/drawingml/2006/main" noGrp="1"/>
          </p:cNvSpPr>
          <p:nvPr/>
        </p:nvSpPr>
        <p:spPr>
          <a:xfrm xmlns:a="http://schemas.openxmlformats.org/drawingml/2006/main">
            <a:off x="2105025" y="3733800"/>
            <a:ext cx="1771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0">
                <a:solidFill>
                  <a:srgbClr val="5C6A64"/>
                </a:solidFill>
                <a:latin typeface="Arial"/>
                <a:ea typeface="Arial"/>
                <a:cs typeface="Arial"/>
              </a:defRPr>
            </a:defPPr>
          </a:lstStyle>
          <a:p xmlns:a="http://schemas.openxmlformats.org/drawingml/2006/main">
            <a:pPr algn="ctr">
              <a:defRPr sz="1350" b="0">
                <a:solidFill>
                  <a:srgbClr val="5C6A64"/>
                </a:solidFill>
                <a:latin typeface="Arial"/>
                <a:ea typeface="Arial"/>
                <a:cs typeface="Arial"/>
              </a:defRPr>
            </a:pPr>
            <a:r>
              <a:rPr sz="1350" b="0">
                <a:solidFill>
                  <a:srgbClr val="5C6A64"/>
                </a:solidFill>
                <a:latin typeface="Arial"/>
                <a:ea typeface="Arial"/>
                <a:cs typeface="Arial"/>
              </a:rPr>
              <a:t>Barcode and paper form</a:t>
            </a:r>
          </a:p>
        </p:txBody>
      </p:sp>
      <p:sp>
        <p:nvSpPr>
          <p:cNvPr id="12" name="">
            <a:extLst xmlns:a="http://schemas.openxmlformats.org/drawingml/2006/main">
              <a:ext uri="{FF2B5EF4-FFF2-40B4-BE49-F238E27FC236}">
                <a16:creationId xmlns:a16="http://schemas.microsoft.com/office/drawing/2014/main" id="{59DC4151-F49D-4ACD-94AF-57AD1D23E196}"/>
              </a:ext>
            </a:extLst>
          </p:cNvPr>
          <p:cNvSpPr>
            <a:spLocks xmlns:a="http://schemas.openxmlformats.org/drawingml/2006/main" noGrp="1"/>
          </p:cNvSpPr>
          <p:nvPr/>
        </p:nvSpPr>
        <p:spPr>
          <a:xfrm xmlns:a="http://schemas.openxmlformats.org/drawingml/2006/main">
            <a:off x="4486275" y="2190750"/>
            <a:ext cx="781050" cy="781050"/>
          </a:xfrm>
          <a:prstGeom xmlns:a="http://schemas.openxmlformats.org/drawingml/2006/main" prst="ellipse">
            <a:avLst/>
          </a:prstGeom>
          <a:solidFill xmlns:a="http://schemas.openxmlformats.org/drawingml/2006/main">
            <a:srgbClr val="123D3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C057358-C78A-4B5F-AFC4-0D7F2579B101}"/>
              </a:ext>
            </a:extLst>
          </p:cNvPr>
          <p:cNvSpPr>
            <a:spLocks xmlns:a="http://schemas.openxmlformats.org/drawingml/2006/main" noGrp="1"/>
          </p:cNvSpPr>
          <p:nvPr/>
        </p:nvSpPr>
        <p:spPr>
          <a:xfrm xmlns:a="http://schemas.openxmlformats.org/drawingml/2006/main">
            <a:off x="4486275" y="219075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FEBABFB0-12A2-47E3-A8FA-61A12789242F}"/>
              </a:ext>
            </a:extLst>
          </p:cNvPr>
          <p:cNvSpPr>
            <a:spLocks xmlns:a="http://schemas.openxmlformats.org/drawingml/2006/main" noGrp="1"/>
          </p:cNvSpPr>
          <p:nvPr/>
        </p:nvSpPr>
        <p:spPr>
          <a:xfrm xmlns:a="http://schemas.openxmlformats.org/drawingml/2006/main">
            <a:off x="4086225" y="3238500"/>
            <a:ext cx="158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725" b="1">
                <a:solidFill>
                  <a:srgbClr val="123D32"/>
                </a:solidFill>
                <a:latin typeface="Arial"/>
                <a:ea typeface="Arial"/>
                <a:cs typeface="Arial"/>
              </a:defRPr>
            </a:defPPr>
          </a:lstStyle>
          <a:p xmlns:a="http://schemas.openxmlformats.org/drawingml/2006/main">
            <a:pPr algn="ctr">
              <a:defRPr sz="1725" b="1">
                <a:solidFill>
                  <a:srgbClr val="123D32"/>
                </a:solidFill>
                <a:latin typeface="Arial"/>
                <a:ea typeface="Arial"/>
                <a:cs typeface="Arial"/>
              </a:defRPr>
            </a:pPr>
            <a:r>
              <a:rPr sz="1725" b="1">
                <a:solidFill>
                  <a:srgbClr val="123D32"/>
                </a:solidFill>
                <a:latin typeface="Arial"/>
                <a:ea typeface="Arial"/>
                <a:cs typeface="Arial"/>
              </a:rPr>
              <a:t>Doctor review</a:t>
            </a:r>
          </a:p>
        </p:txBody>
      </p:sp>
      <p:sp>
        <p:nvSpPr>
          <p:cNvPr id="15" name="">
            <a:extLst xmlns:a="http://schemas.openxmlformats.org/drawingml/2006/main">
              <a:ext uri="{FF2B5EF4-FFF2-40B4-BE49-F238E27FC236}">
                <a16:creationId xmlns:a16="http://schemas.microsoft.com/office/drawing/2014/main" id="{384C98C4-2568-462B-886A-308F97B17B91}"/>
              </a:ext>
            </a:extLst>
          </p:cNvPr>
          <p:cNvSpPr>
            <a:spLocks xmlns:a="http://schemas.openxmlformats.org/drawingml/2006/main" noGrp="1"/>
          </p:cNvSpPr>
          <p:nvPr/>
        </p:nvSpPr>
        <p:spPr>
          <a:xfrm xmlns:a="http://schemas.openxmlformats.org/drawingml/2006/main">
            <a:off x="3990975" y="3733800"/>
            <a:ext cx="1771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0">
                <a:solidFill>
                  <a:srgbClr val="5C6A64"/>
                </a:solidFill>
                <a:latin typeface="Arial"/>
                <a:ea typeface="Arial"/>
                <a:cs typeface="Arial"/>
              </a:defRPr>
            </a:defPPr>
          </a:lstStyle>
          <a:p xmlns:a="http://schemas.openxmlformats.org/drawingml/2006/main">
            <a:pPr algn="ctr">
              <a:defRPr sz="1350" b="0">
                <a:solidFill>
                  <a:srgbClr val="5C6A64"/>
                </a:solidFill>
                <a:latin typeface="Arial"/>
                <a:ea typeface="Arial"/>
                <a:cs typeface="Arial"/>
              </a:defRPr>
            </a:pPr>
            <a:r>
              <a:rPr sz="1350" b="0">
                <a:solidFill>
                  <a:srgbClr val="5C6A64"/>
                </a:solidFill>
                <a:latin typeface="Arial"/>
                <a:ea typeface="Arial"/>
                <a:cs typeface="Arial"/>
              </a:rPr>
              <a:t>Schedule a future OT date</a:t>
            </a:r>
          </a:p>
        </p:txBody>
      </p:sp>
      <p:sp>
        <p:nvSpPr>
          <p:cNvPr id="17" name="">
            <a:extLst xmlns:a="http://schemas.openxmlformats.org/drawingml/2006/main">
              <a:ext uri="{FF2B5EF4-FFF2-40B4-BE49-F238E27FC236}">
                <a16:creationId xmlns:a16="http://schemas.microsoft.com/office/drawing/2014/main" id="{5A5CC84E-D0C0-44B5-82B0-FB80DC222077}"/>
              </a:ext>
            </a:extLst>
          </p:cNvPr>
          <p:cNvSpPr>
            <a:spLocks xmlns:a="http://schemas.openxmlformats.org/drawingml/2006/main" noGrp="1"/>
          </p:cNvSpPr>
          <p:nvPr/>
        </p:nvSpPr>
        <p:spPr>
          <a:xfrm xmlns:a="http://schemas.openxmlformats.org/drawingml/2006/main">
            <a:off x="6372225" y="2190750"/>
            <a:ext cx="781050" cy="781050"/>
          </a:xfrm>
          <a:prstGeom xmlns:a="http://schemas.openxmlformats.org/drawingml/2006/main" prst="ellipse">
            <a:avLst/>
          </a:prstGeom>
          <a:solidFill xmlns:a="http://schemas.openxmlformats.org/drawingml/2006/main">
            <a:srgbClr val="123D3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552929F-F677-4374-A4FE-83245DD07156}"/>
              </a:ext>
            </a:extLst>
          </p:cNvPr>
          <p:cNvSpPr>
            <a:spLocks xmlns:a="http://schemas.openxmlformats.org/drawingml/2006/main" noGrp="1"/>
          </p:cNvSpPr>
          <p:nvPr/>
        </p:nvSpPr>
        <p:spPr>
          <a:xfrm xmlns:a="http://schemas.openxmlformats.org/drawingml/2006/main">
            <a:off x="6372225" y="219075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B0BC5524-DCB8-49FD-B3A7-6B6652147D73}"/>
              </a:ext>
            </a:extLst>
          </p:cNvPr>
          <p:cNvSpPr>
            <a:spLocks xmlns:a="http://schemas.openxmlformats.org/drawingml/2006/main" noGrp="1"/>
          </p:cNvSpPr>
          <p:nvPr/>
        </p:nvSpPr>
        <p:spPr>
          <a:xfrm xmlns:a="http://schemas.openxmlformats.org/drawingml/2006/main">
            <a:off x="5972175" y="3238500"/>
            <a:ext cx="158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725" b="1">
                <a:solidFill>
                  <a:srgbClr val="123D32"/>
                </a:solidFill>
                <a:latin typeface="Arial"/>
                <a:ea typeface="Arial"/>
                <a:cs typeface="Arial"/>
              </a:defRPr>
            </a:defPPr>
          </a:lstStyle>
          <a:p xmlns:a="http://schemas.openxmlformats.org/drawingml/2006/main">
            <a:pPr algn="ctr">
              <a:defRPr sz="1725" b="1">
                <a:solidFill>
                  <a:srgbClr val="123D32"/>
                </a:solidFill>
                <a:latin typeface="Arial"/>
                <a:ea typeface="Arial"/>
                <a:cs typeface="Arial"/>
              </a:defRPr>
            </a:pPr>
            <a:r>
              <a:rPr sz="1725" b="1">
                <a:solidFill>
                  <a:srgbClr val="123D32"/>
                </a:solidFill>
                <a:latin typeface="Arial"/>
                <a:ea typeface="Arial"/>
                <a:cs typeface="Arial"/>
              </a:rPr>
              <a:t>Create roster</a:t>
            </a:r>
          </a:p>
        </p:txBody>
      </p:sp>
      <p:sp>
        <p:nvSpPr>
          <p:cNvPr id="20" name="">
            <a:extLst xmlns:a="http://schemas.openxmlformats.org/drawingml/2006/main">
              <a:ext uri="{FF2B5EF4-FFF2-40B4-BE49-F238E27FC236}">
                <a16:creationId xmlns:a16="http://schemas.microsoft.com/office/drawing/2014/main" id="{2D801468-F36F-45B8-BF60-75A54572CBCA}"/>
              </a:ext>
            </a:extLst>
          </p:cNvPr>
          <p:cNvSpPr>
            <a:spLocks xmlns:a="http://schemas.openxmlformats.org/drawingml/2006/main" noGrp="1"/>
          </p:cNvSpPr>
          <p:nvPr/>
        </p:nvSpPr>
        <p:spPr>
          <a:xfrm xmlns:a="http://schemas.openxmlformats.org/drawingml/2006/main">
            <a:off x="5876925" y="3733800"/>
            <a:ext cx="1771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0">
                <a:solidFill>
                  <a:srgbClr val="5C6A64"/>
                </a:solidFill>
                <a:latin typeface="Arial"/>
                <a:ea typeface="Arial"/>
                <a:cs typeface="Arial"/>
              </a:defRPr>
            </a:defPPr>
          </a:lstStyle>
          <a:p xmlns:a="http://schemas.openxmlformats.org/drawingml/2006/main">
            <a:pPr algn="ctr">
              <a:defRPr sz="1350" b="0">
                <a:solidFill>
                  <a:srgbClr val="5C6A64"/>
                </a:solidFill>
                <a:latin typeface="Arial"/>
                <a:ea typeface="Arial"/>
                <a:cs typeface="Arial"/>
              </a:defRPr>
            </a:pPr>
            <a:r>
              <a:rPr sz="1350" b="0">
                <a:solidFill>
                  <a:srgbClr val="5C6A64"/>
                </a:solidFill>
                <a:latin typeface="Arial"/>
                <a:ea typeface="Arial"/>
                <a:cs typeface="Arial"/>
              </a:rPr>
              <a:t>Patient appears on that date</a:t>
            </a:r>
          </a:p>
        </p:txBody>
      </p:sp>
      <p:sp>
        <p:nvSpPr>
          <p:cNvPr id="22" name="">
            <a:extLst xmlns:a="http://schemas.openxmlformats.org/drawingml/2006/main">
              <a:ext uri="{FF2B5EF4-FFF2-40B4-BE49-F238E27FC236}">
                <a16:creationId xmlns:a16="http://schemas.microsoft.com/office/drawing/2014/main" id="{153AB6EE-A0D7-46FF-8257-B6C4F131C67B}"/>
              </a:ext>
            </a:extLst>
          </p:cNvPr>
          <p:cNvSpPr>
            <a:spLocks xmlns:a="http://schemas.openxmlformats.org/drawingml/2006/main" noGrp="1"/>
          </p:cNvSpPr>
          <p:nvPr/>
        </p:nvSpPr>
        <p:spPr>
          <a:xfrm xmlns:a="http://schemas.openxmlformats.org/drawingml/2006/main">
            <a:off x="8258175" y="2190750"/>
            <a:ext cx="781050" cy="781050"/>
          </a:xfrm>
          <a:prstGeom xmlns:a="http://schemas.openxmlformats.org/drawingml/2006/main" prst="ellipse">
            <a:avLst/>
          </a:prstGeom>
          <a:solidFill xmlns:a="http://schemas.openxmlformats.org/drawingml/2006/main">
            <a:srgbClr val="123D3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CBFF88A-95E7-4004-BBCB-9F6963BC021F}"/>
              </a:ext>
            </a:extLst>
          </p:cNvPr>
          <p:cNvSpPr>
            <a:spLocks xmlns:a="http://schemas.openxmlformats.org/drawingml/2006/main" noGrp="1"/>
          </p:cNvSpPr>
          <p:nvPr/>
        </p:nvSpPr>
        <p:spPr>
          <a:xfrm xmlns:a="http://schemas.openxmlformats.org/drawingml/2006/main">
            <a:off x="8258175" y="219075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6E726360-D77D-4B40-AA6B-3E03FEFFD3AB}"/>
              </a:ext>
            </a:extLst>
          </p:cNvPr>
          <p:cNvSpPr>
            <a:spLocks xmlns:a="http://schemas.openxmlformats.org/drawingml/2006/main" noGrp="1"/>
          </p:cNvSpPr>
          <p:nvPr/>
        </p:nvSpPr>
        <p:spPr>
          <a:xfrm xmlns:a="http://schemas.openxmlformats.org/drawingml/2006/main">
            <a:off x="7858125" y="3238500"/>
            <a:ext cx="158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725" b="1">
                <a:solidFill>
                  <a:srgbClr val="123D32"/>
                </a:solidFill>
                <a:latin typeface="Arial"/>
                <a:ea typeface="Arial"/>
                <a:cs typeface="Arial"/>
              </a:defRPr>
            </a:defPPr>
          </a:lstStyle>
          <a:p xmlns:a="http://schemas.openxmlformats.org/drawingml/2006/main">
            <a:pPr algn="ctr">
              <a:defRPr sz="1725" b="1">
                <a:solidFill>
                  <a:srgbClr val="123D32"/>
                </a:solidFill>
                <a:latin typeface="Arial"/>
                <a:ea typeface="Arial"/>
                <a:cs typeface="Arial"/>
              </a:defRPr>
            </a:pPr>
            <a:r>
              <a:rPr sz="1725" b="1">
                <a:solidFill>
                  <a:srgbClr val="123D32"/>
                </a:solidFill>
                <a:latin typeface="Arial"/>
                <a:ea typeface="Arial"/>
                <a:cs typeface="Arial"/>
              </a:rPr>
              <a:t>Update status</a:t>
            </a:r>
          </a:p>
        </p:txBody>
      </p:sp>
      <p:sp>
        <p:nvSpPr>
          <p:cNvPr id="25" name="">
            <a:extLst xmlns:a="http://schemas.openxmlformats.org/drawingml/2006/main">
              <a:ext uri="{FF2B5EF4-FFF2-40B4-BE49-F238E27FC236}">
                <a16:creationId xmlns:a16="http://schemas.microsoft.com/office/drawing/2014/main" id="{58F99A3A-34FC-4B50-B117-669EB85FA5F6}"/>
              </a:ext>
            </a:extLst>
          </p:cNvPr>
          <p:cNvSpPr>
            <a:spLocks xmlns:a="http://schemas.openxmlformats.org/drawingml/2006/main" noGrp="1"/>
          </p:cNvSpPr>
          <p:nvPr/>
        </p:nvSpPr>
        <p:spPr>
          <a:xfrm xmlns:a="http://schemas.openxmlformats.org/drawingml/2006/main">
            <a:off x="7762875" y="3733800"/>
            <a:ext cx="1771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0">
                <a:solidFill>
                  <a:srgbClr val="5C6A64"/>
                </a:solidFill>
                <a:latin typeface="Arial"/>
                <a:ea typeface="Arial"/>
                <a:cs typeface="Arial"/>
              </a:defRPr>
            </a:defPPr>
          </a:lstStyle>
          <a:p xmlns:a="http://schemas.openxmlformats.org/drawingml/2006/main">
            <a:pPr algn="ctr">
              <a:defRPr sz="1350" b="0">
                <a:solidFill>
                  <a:srgbClr val="5C6A64"/>
                </a:solidFill>
                <a:latin typeface="Arial"/>
                <a:ea typeface="Arial"/>
                <a:cs typeface="Arial"/>
              </a:defRPr>
            </a:pPr>
            <a:r>
              <a:rPr sz="1350" b="0">
                <a:solidFill>
                  <a:srgbClr val="5C6A64"/>
                </a:solidFill>
                <a:latin typeface="Arial"/>
                <a:ea typeface="Arial"/>
                <a:cs typeface="Arial"/>
              </a:rPr>
              <a:t>Waiting to completed</a:t>
            </a:r>
          </a:p>
        </p:txBody>
      </p:sp>
      <p:sp>
        <p:nvSpPr>
          <p:cNvPr id="27" name="">
            <a:extLst xmlns:a="http://schemas.openxmlformats.org/drawingml/2006/main">
              <a:ext uri="{FF2B5EF4-FFF2-40B4-BE49-F238E27FC236}">
                <a16:creationId xmlns:a16="http://schemas.microsoft.com/office/drawing/2014/main" id="{97E1537C-5B0B-42B5-BBD1-A34497CBB532}"/>
              </a:ext>
            </a:extLst>
          </p:cNvPr>
          <p:cNvSpPr>
            <a:spLocks xmlns:a="http://schemas.openxmlformats.org/drawingml/2006/main" noGrp="1"/>
          </p:cNvSpPr>
          <p:nvPr/>
        </p:nvSpPr>
        <p:spPr>
          <a:xfrm xmlns:a="http://schemas.openxmlformats.org/drawingml/2006/main">
            <a:off x="10144125" y="2190750"/>
            <a:ext cx="781050" cy="781050"/>
          </a:xfrm>
          <a:prstGeom xmlns:a="http://schemas.openxmlformats.org/drawingml/2006/main" prst="ellipse">
            <a:avLst/>
          </a:prstGeom>
          <a:solidFill xmlns:a="http://schemas.openxmlformats.org/drawingml/2006/main">
            <a:srgbClr val="D5A63A"/>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686CBD4-2D48-43CA-90F6-54EBDF53AEF9}"/>
              </a:ext>
            </a:extLst>
          </p:cNvPr>
          <p:cNvSpPr>
            <a:spLocks xmlns:a="http://schemas.openxmlformats.org/drawingml/2006/main" noGrp="1"/>
          </p:cNvSpPr>
          <p:nvPr/>
        </p:nvSpPr>
        <p:spPr>
          <a:xfrm xmlns:a="http://schemas.openxmlformats.org/drawingml/2006/main">
            <a:off x="10144125" y="2190750"/>
            <a:ext cx="781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0A2C25"/>
                </a:solidFill>
                <a:latin typeface="Arial"/>
                <a:ea typeface="Arial"/>
                <a:cs typeface="Arial"/>
              </a:defRPr>
            </a:defPPr>
          </a:lstStyle>
          <a:p xmlns:a="http://schemas.openxmlformats.org/drawingml/2006/main">
            <a:pPr algn="ctr">
              <a:defRPr sz="2250" b="1">
                <a:solidFill>
                  <a:srgbClr val="0A2C25"/>
                </a:solidFill>
                <a:latin typeface="Arial"/>
                <a:ea typeface="Arial"/>
                <a:cs typeface="Arial"/>
              </a:defRPr>
            </a:pPr>
            <a:r>
              <a:rPr sz="2250" b="1">
                <a:solidFill>
                  <a:srgbClr val="0A2C25"/>
                </a:solidFill>
                <a:latin typeface="Arial"/>
                <a:ea typeface="Arial"/>
                <a:cs typeface="Arial"/>
              </a:rPr>
              <a:t>6</a:t>
            </a:r>
          </a:p>
        </p:txBody>
      </p:sp>
      <p:sp>
        <p:nvSpPr>
          <p:cNvPr id="29" name="">
            <a:extLst xmlns:a="http://schemas.openxmlformats.org/drawingml/2006/main">
              <a:ext uri="{FF2B5EF4-FFF2-40B4-BE49-F238E27FC236}">
                <a16:creationId xmlns:a16="http://schemas.microsoft.com/office/drawing/2014/main" id="{781375B0-7457-4D2F-BBE5-0BA727BD74B5}"/>
              </a:ext>
            </a:extLst>
          </p:cNvPr>
          <p:cNvSpPr>
            <a:spLocks xmlns:a="http://schemas.openxmlformats.org/drawingml/2006/main" noGrp="1"/>
          </p:cNvSpPr>
          <p:nvPr/>
        </p:nvSpPr>
        <p:spPr>
          <a:xfrm xmlns:a="http://schemas.openxmlformats.org/drawingml/2006/main">
            <a:off x="9744075" y="3238500"/>
            <a:ext cx="158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725" b="1">
                <a:solidFill>
                  <a:srgbClr val="123D32"/>
                </a:solidFill>
                <a:latin typeface="Arial"/>
                <a:ea typeface="Arial"/>
                <a:cs typeface="Arial"/>
              </a:defRPr>
            </a:defPPr>
          </a:lstStyle>
          <a:p xmlns:a="http://schemas.openxmlformats.org/drawingml/2006/main">
            <a:pPr algn="ctr">
              <a:defRPr sz="1725" b="1">
                <a:solidFill>
                  <a:srgbClr val="123D32"/>
                </a:solidFill>
                <a:latin typeface="Arial"/>
                <a:ea typeface="Arial"/>
                <a:cs typeface="Arial"/>
              </a:defRPr>
            </a:pPr>
            <a:r>
              <a:rPr sz="1725" b="1">
                <a:solidFill>
                  <a:srgbClr val="123D32"/>
                </a:solidFill>
                <a:latin typeface="Arial"/>
                <a:ea typeface="Arial"/>
                <a:cs typeface="Arial"/>
              </a:rPr>
              <a:t>Inform patients</a:t>
            </a:r>
          </a:p>
        </p:txBody>
      </p:sp>
      <p:sp>
        <p:nvSpPr>
          <p:cNvPr id="30" name="">
            <a:extLst xmlns:a="http://schemas.openxmlformats.org/drawingml/2006/main">
              <a:ext uri="{FF2B5EF4-FFF2-40B4-BE49-F238E27FC236}">
                <a16:creationId xmlns:a16="http://schemas.microsoft.com/office/drawing/2014/main" id="{764440D7-9482-4B26-B035-8C0946AB702A}"/>
              </a:ext>
            </a:extLst>
          </p:cNvPr>
          <p:cNvSpPr>
            <a:spLocks xmlns:a="http://schemas.openxmlformats.org/drawingml/2006/main" noGrp="1"/>
          </p:cNvSpPr>
          <p:nvPr/>
        </p:nvSpPr>
        <p:spPr>
          <a:xfrm xmlns:a="http://schemas.openxmlformats.org/drawingml/2006/main">
            <a:off x="9648825" y="3733800"/>
            <a:ext cx="17716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0">
                <a:solidFill>
                  <a:srgbClr val="5C6A64"/>
                </a:solidFill>
                <a:latin typeface="Arial"/>
                <a:ea typeface="Arial"/>
                <a:cs typeface="Arial"/>
              </a:defRPr>
            </a:defPPr>
          </a:lstStyle>
          <a:p xmlns:a="http://schemas.openxmlformats.org/drawingml/2006/main">
            <a:pPr algn="ctr">
              <a:defRPr sz="1350" b="0">
                <a:solidFill>
                  <a:srgbClr val="5C6A64"/>
                </a:solidFill>
                <a:latin typeface="Arial"/>
                <a:ea typeface="Arial"/>
                <a:cs typeface="Arial"/>
              </a:defRPr>
            </a:pPr>
            <a:r>
              <a:rPr sz="1350" b="0">
                <a:solidFill>
                  <a:srgbClr val="5C6A64"/>
                </a:solidFill>
                <a:latin typeface="Arial"/>
                <a:ea typeface="Arial"/>
                <a:cs typeface="Arial"/>
              </a:rPr>
              <a:t>Silent TV rotation</a:t>
            </a:r>
          </a:p>
        </p:txBody>
      </p:sp>
      <p:sp>
        <p:nvSpPr>
          <p:cNvPr id="32" name="">
            <a:extLst xmlns:a="http://schemas.openxmlformats.org/drawingml/2006/main">
              <a:ext uri="{FF2B5EF4-FFF2-40B4-BE49-F238E27FC236}">
                <a16:creationId xmlns:a16="http://schemas.microsoft.com/office/drawing/2014/main" id="{66A05906-DCA4-4ED2-97A9-3AF81A3BE9E0}"/>
              </a:ext>
            </a:extLst>
          </p:cNvPr>
          <p:cNvSpPr>
            <a:spLocks xmlns:a="http://schemas.openxmlformats.org/drawingml/2006/main" noGrp="1"/>
          </p:cNvSpPr>
          <p:nvPr/>
        </p:nvSpPr>
        <p:spPr>
          <a:xfrm xmlns:a="http://schemas.openxmlformats.org/drawingml/2006/main">
            <a:off x="1714500" y="5143500"/>
            <a:ext cx="8763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875" b="1">
                <a:solidFill>
                  <a:srgbClr val="0A2C25"/>
                </a:solidFill>
                <a:latin typeface="Arial"/>
                <a:ea typeface="Arial"/>
                <a:cs typeface="Arial"/>
              </a:defRPr>
            </a:defPPr>
          </a:lstStyle>
          <a:p xmlns:a="http://schemas.openxmlformats.org/drawingml/2006/main">
            <a:pPr algn="ctr">
              <a:defRPr sz="1875" b="1">
                <a:solidFill>
                  <a:srgbClr val="0A2C25"/>
                </a:solidFill>
                <a:latin typeface="Arial"/>
                <a:ea typeface="Arial"/>
                <a:cs typeface="Arial"/>
              </a:defRPr>
            </a:pPr>
            <a:r>
              <a:rPr sz="1875" b="1">
                <a:solidFill>
                  <a:srgbClr val="0A2C25"/>
                </a:solidFill>
                <a:latin typeface="Arial"/>
                <a:ea typeface="Arial"/>
                <a:cs typeface="Arial"/>
              </a:rPr>
              <a:t>Every OT patient begins with an authorised reception record. No duplicate typing and no image recognition are required.</a:t>
            </a:r>
          </a:p>
        </p:txBody>
      </p:sp>
      <p:sp>
        <p:nvSpPr>
          <p:cNvPr id="33" name="">
            <a:extLst xmlns:a="http://schemas.openxmlformats.org/drawingml/2006/main">
              <a:ext uri="{FF2B5EF4-FFF2-40B4-BE49-F238E27FC236}">
                <a16:creationId xmlns:a16="http://schemas.microsoft.com/office/drawing/2014/main" id="{AF166606-D6FB-4447-8B4D-70B0EAA186E2}"/>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Clinical examination and handwritten notes remain on the printed anaesthesia form.</a:t>
            </a:r>
          </a:p>
        </p:txBody>
      </p:sp>
      <p:sp>
        <p:nvSpPr>
          <p:cNvPr id="34" name="">
            <a:extLst xmlns:a="http://schemas.openxmlformats.org/drawingml/2006/main">
              <a:ext uri="{FF2B5EF4-FFF2-40B4-BE49-F238E27FC236}">
                <a16:creationId xmlns:a16="http://schemas.microsoft.com/office/drawing/2014/main" id="{055E98BF-43FA-43DD-B93A-C4D478928190}"/>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1584812332"/>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2F6F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A9FF944-2197-4F2B-8EC4-92A42487773C}"/>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Reception entry stays short and familiar</a:t>
            </a:r>
          </a:p>
        </p:txBody>
      </p:sp>
      <p:sp>
        <p:nvSpPr>
          <p:cNvPr id="2" name="">
            <a:extLst xmlns:a="http://schemas.openxmlformats.org/drawingml/2006/main">
              <a:ext uri="{FF2B5EF4-FFF2-40B4-BE49-F238E27FC236}">
                <a16:creationId xmlns:a16="http://schemas.microsoft.com/office/drawing/2014/main" id="{10B18741-A74F-4618-9D27-BE8D53C99ABD}"/>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72BCD05A-295F-4738-BDC3-DA08A0B4F8C3}"/>
              </a:ext>
            </a:extLst>
          </p:cNvPr>
          <p:cNvSpPr>
            <a:spLocks xmlns:a="http://schemas.openxmlformats.org/drawingml/2006/main" noGrp="1"/>
          </p:cNvSpPr>
          <p:nvPr/>
        </p:nvSpPr>
        <p:spPr>
          <a:xfrm xmlns:a="http://schemas.openxmlformats.org/drawingml/2006/main">
            <a:off x="514350" y="1123950"/>
            <a:ext cx="7010400" cy="5010150"/>
          </a:xfrm>
          <a:prstGeom xmlns:a="http://schemas.openxmlformats.org/drawingml/2006/main" prst="roundRect">
            <a:avLst>
              <a:gd name="adj" fmla="val 3422"/>
            </a:avLst>
          </a:prstGeom>
          <a:solidFill xmlns:a="http://schemas.openxmlformats.org/drawingml/2006/main">
            <a:srgbClr val="FFFFFF"/>
          </a:solidFill>
          <a:ln xmlns:a="http://schemas.openxmlformats.org/drawingml/2006/main" w="9525">
            <a:solidFill>
              <a:srgbClr val="C8D4C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 name="">
            <a:extLst xmlns:a="http://schemas.openxmlformats.org/drawingml/2006/main">
              <a:ext uri="{FF2B5EF4-FFF2-40B4-BE49-F238E27FC236}">
                <a16:creationId xmlns:a16="http://schemas.microsoft.com/office/drawing/2014/main" id="{8B36A6E8-E206-4020-89EE-5598D4FF0437}"/>
              </a:ext>
            </a:extLst>
          </p:cNvPr>
          <p:cNvPicPr>
            <a:picLocks xmlns:a="http://schemas.openxmlformats.org/drawingml/2006/main" noChangeAspect="1"/>
          </p:cNvPicPr>
          <p:nvPr/>
        </p:nvPicPr>
        <p:blipFill>
          <a:blip xmlns:r="http://schemas.openxmlformats.org/officeDocument/2006/relationships" xmlns:a="http://schemas.openxmlformats.org/drawingml/2006/main" r:embed="R36011d29b5664ef4"/>
          <a:stretch xmlns:a="http://schemas.openxmlformats.org/drawingml/2006/main"/>
        </p:blipFill>
        <p:spPr>
          <a:xfrm xmlns:a="http://schemas.openxmlformats.org/drawingml/2006/main">
            <a:off x="590550" y="1699911"/>
            <a:ext cx="6858000" cy="3858228"/>
          </a:xfrm>
          <a:prstGeom xmlns:a="http://schemas.openxmlformats.org/drawingml/2006/main" prst="roundRect">
            <a:avLst>
              <a:gd name="adj" fmla="val 2353"/>
            </a:avLst>
          </a:prstGeom>
        </p:spPr>
      </p:pic>
      <p:sp>
        <p:nvSpPr>
          <p:cNvPr id="5" name="">
            <a:extLst xmlns:a="http://schemas.openxmlformats.org/drawingml/2006/main">
              <a:ext uri="{FF2B5EF4-FFF2-40B4-BE49-F238E27FC236}">
                <a16:creationId xmlns:a16="http://schemas.microsoft.com/office/drawing/2014/main" id="{03BC7754-EEA3-4AC9-8F13-C0256B4EDA46}"/>
              </a:ext>
            </a:extLst>
          </p:cNvPr>
          <p:cNvSpPr>
            <a:spLocks xmlns:a="http://schemas.openxmlformats.org/drawingml/2006/main" noGrp="1"/>
          </p:cNvSpPr>
          <p:nvPr/>
        </p:nvSpPr>
        <p:spPr>
          <a:xfrm xmlns:a="http://schemas.openxmlformats.org/drawingml/2006/main">
            <a:off x="8020050" y="16002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546"/>
          </a:bodyPr>
          <a:lstStyle xmlns:a="http://schemas.openxmlformats.org/drawingml/2006/main">
            <a:defPPr algn="l">
              <a:defRPr sz="2175" b="1">
                <a:solidFill>
                  <a:srgbClr val="123D32"/>
                </a:solidFill>
                <a:latin typeface="Arial"/>
                <a:ea typeface="Arial"/>
                <a:cs typeface="Arial"/>
              </a:defRPr>
            </a:defPPr>
          </a:lstStyle>
          <a:p xmlns:a="http://schemas.openxmlformats.org/drawingml/2006/main">
            <a:pPr algn="l">
              <a:defRPr sz="2175" b="1">
                <a:solidFill>
                  <a:srgbClr val="123D32"/>
                </a:solidFill>
                <a:latin typeface="Arial"/>
                <a:ea typeface="Arial"/>
                <a:cs typeface="Arial"/>
              </a:defRPr>
            </a:pPr>
            <a:r>
              <a:rPr sz="2175" b="1">
                <a:solidFill>
                  <a:srgbClr val="123D32"/>
                </a:solidFill>
                <a:latin typeface="Arial"/>
                <a:ea typeface="Arial"/>
                <a:cs typeface="Arial"/>
              </a:rPr>
              <a:t>Only essential information</a:t>
            </a:r>
          </a:p>
        </p:txBody>
      </p:sp>
      <p:sp>
        <p:nvSpPr>
          <p:cNvPr id="6" name="">
            <a:extLst xmlns:a="http://schemas.openxmlformats.org/drawingml/2006/main">
              <a:ext uri="{FF2B5EF4-FFF2-40B4-BE49-F238E27FC236}">
                <a16:creationId xmlns:a16="http://schemas.microsoft.com/office/drawing/2014/main" id="{BAB384C9-66DA-4FFA-BEE1-8EF6EAF34BDD}"/>
              </a:ext>
            </a:extLst>
          </p:cNvPr>
          <p:cNvSpPr>
            <a:spLocks xmlns:a="http://schemas.openxmlformats.org/drawingml/2006/main" noGrp="1"/>
          </p:cNvSpPr>
          <p:nvPr/>
        </p:nvSpPr>
        <p:spPr>
          <a:xfrm xmlns:a="http://schemas.openxmlformats.org/drawingml/2006/main">
            <a:off x="8058150" y="2343150"/>
            <a:ext cx="171450" cy="171450"/>
          </a:xfrm>
          <a:prstGeom xmlns:a="http://schemas.openxmlformats.org/drawingml/2006/main" prst="ellipse">
            <a:avLst/>
          </a:prstGeom>
          <a:solidFill xmlns:a="http://schemas.openxmlformats.org/drawingml/2006/main">
            <a:srgbClr val="D5A63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C8B172-2E7E-417E-B3A6-98138ADB9216}"/>
              </a:ext>
            </a:extLst>
          </p:cNvPr>
          <p:cNvSpPr>
            <a:spLocks xmlns:a="http://schemas.openxmlformats.org/drawingml/2006/main" noGrp="1"/>
          </p:cNvSpPr>
          <p:nvPr/>
        </p:nvSpPr>
        <p:spPr>
          <a:xfrm xmlns:a="http://schemas.openxmlformats.org/drawingml/2006/main">
            <a:off x="8401050" y="22288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0">
                <a:solidFill>
                  <a:srgbClr val="16211D"/>
                </a:solidFill>
                <a:latin typeface="Arial"/>
                <a:ea typeface="Arial"/>
                <a:cs typeface="Arial"/>
              </a:defRPr>
            </a:defPPr>
          </a:lstStyle>
          <a:p xmlns:a="http://schemas.openxmlformats.org/drawingml/2006/main">
            <a:pPr algn="l">
              <a:defRPr sz="1575" b="0">
                <a:solidFill>
                  <a:srgbClr val="16211D"/>
                </a:solidFill>
                <a:latin typeface="Arial"/>
                <a:ea typeface="Arial"/>
                <a:cs typeface="Arial"/>
              </a:defRPr>
            </a:pPr>
            <a:r>
              <a:rPr sz="1575" b="0">
                <a:solidFill>
                  <a:srgbClr val="16211D"/>
                </a:solidFill>
                <a:latin typeface="Arial"/>
                <a:ea typeface="Arial"/>
                <a:cs typeface="Arial"/>
              </a:rPr>
              <a:t>Army or service number remains unique</a:t>
            </a:r>
          </a:p>
        </p:txBody>
      </p:sp>
      <p:sp>
        <p:nvSpPr>
          <p:cNvPr id="8" name="">
            <a:extLst xmlns:a="http://schemas.openxmlformats.org/drawingml/2006/main">
              <a:ext uri="{FF2B5EF4-FFF2-40B4-BE49-F238E27FC236}">
                <a16:creationId xmlns:a16="http://schemas.microsoft.com/office/drawing/2014/main" id="{AB97902C-40B3-44EA-85F1-094898A0BBBB}"/>
              </a:ext>
            </a:extLst>
          </p:cNvPr>
          <p:cNvSpPr>
            <a:spLocks xmlns:a="http://schemas.openxmlformats.org/drawingml/2006/main" noGrp="1"/>
          </p:cNvSpPr>
          <p:nvPr/>
        </p:nvSpPr>
        <p:spPr>
          <a:xfrm xmlns:a="http://schemas.openxmlformats.org/drawingml/2006/main">
            <a:off x="8058150" y="3086100"/>
            <a:ext cx="171450" cy="171450"/>
          </a:xfrm>
          <a:prstGeom xmlns:a="http://schemas.openxmlformats.org/drawingml/2006/main" prst="ellipse">
            <a:avLst/>
          </a:prstGeom>
          <a:solidFill xmlns:a="http://schemas.openxmlformats.org/drawingml/2006/main">
            <a:srgbClr val="D5A63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669A3AB-E18A-48E3-9915-4932D9D6340E}"/>
              </a:ext>
            </a:extLst>
          </p:cNvPr>
          <p:cNvSpPr>
            <a:spLocks xmlns:a="http://schemas.openxmlformats.org/drawingml/2006/main" noGrp="1"/>
          </p:cNvSpPr>
          <p:nvPr/>
        </p:nvSpPr>
        <p:spPr>
          <a:xfrm xmlns:a="http://schemas.openxmlformats.org/drawingml/2006/main">
            <a:off x="8401050" y="29718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0">
                <a:solidFill>
                  <a:srgbClr val="16211D"/>
                </a:solidFill>
                <a:latin typeface="Arial"/>
                <a:ea typeface="Arial"/>
                <a:cs typeface="Arial"/>
              </a:defRPr>
            </a:defPPr>
          </a:lstStyle>
          <a:p xmlns:a="http://schemas.openxmlformats.org/drawingml/2006/main">
            <a:pPr algn="l">
              <a:defRPr sz="1575" b="0">
                <a:solidFill>
                  <a:srgbClr val="16211D"/>
                </a:solidFill>
                <a:latin typeface="Arial"/>
                <a:ea typeface="Arial"/>
                <a:cs typeface="Arial"/>
              </a:defRPr>
            </a:pPr>
            <a:r>
              <a:rPr sz="1575" b="0">
                <a:solidFill>
                  <a:srgbClr val="16211D"/>
                </a:solidFill>
                <a:latin typeface="Arial"/>
                <a:ea typeface="Arial"/>
                <a:cs typeface="Arial"/>
              </a:rPr>
              <a:t>Rank is searchable from a controlled list</a:t>
            </a:r>
          </a:p>
        </p:txBody>
      </p:sp>
      <p:sp>
        <p:nvSpPr>
          <p:cNvPr id="10" name="">
            <a:extLst xmlns:a="http://schemas.openxmlformats.org/drawingml/2006/main">
              <a:ext uri="{FF2B5EF4-FFF2-40B4-BE49-F238E27FC236}">
                <a16:creationId xmlns:a16="http://schemas.microsoft.com/office/drawing/2014/main" id="{8D7CB764-47A9-4A94-8239-F83C747629DE}"/>
              </a:ext>
            </a:extLst>
          </p:cNvPr>
          <p:cNvSpPr>
            <a:spLocks xmlns:a="http://schemas.openxmlformats.org/drawingml/2006/main" noGrp="1"/>
          </p:cNvSpPr>
          <p:nvPr/>
        </p:nvSpPr>
        <p:spPr>
          <a:xfrm xmlns:a="http://schemas.openxmlformats.org/drawingml/2006/main">
            <a:off x="8058150" y="3829050"/>
            <a:ext cx="171450" cy="171450"/>
          </a:xfrm>
          <a:prstGeom xmlns:a="http://schemas.openxmlformats.org/drawingml/2006/main" prst="ellipse">
            <a:avLst/>
          </a:prstGeom>
          <a:solidFill xmlns:a="http://schemas.openxmlformats.org/drawingml/2006/main">
            <a:srgbClr val="D5A6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D42793-1CD2-42B1-9241-FDC65CB973B8}"/>
              </a:ext>
            </a:extLst>
          </p:cNvPr>
          <p:cNvSpPr>
            <a:spLocks xmlns:a="http://schemas.openxmlformats.org/drawingml/2006/main" noGrp="1"/>
          </p:cNvSpPr>
          <p:nvPr/>
        </p:nvSpPr>
        <p:spPr>
          <a:xfrm xmlns:a="http://schemas.openxmlformats.org/drawingml/2006/main">
            <a:off x="8401050" y="37147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0">
                <a:solidFill>
                  <a:srgbClr val="16211D"/>
                </a:solidFill>
                <a:latin typeface="Arial"/>
                <a:ea typeface="Arial"/>
                <a:cs typeface="Arial"/>
              </a:defRPr>
            </a:defPPr>
          </a:lstStyle>
          <a:p xmlns:a="http://schemas.openxmlformats.org/drawingml/2006/main">
            <a:pPr algn="l">
              <a:defRPr sz="1575" b="0">
                <a:solidFill>
                  <a:srgbClr val="16211D"/>
                </a:solidFill>
                <a:latin typeface="Arial"/>
                <a:ea typeface="Arial"/>
                <a:cs typeface="Arial"/>
              </a:defRPr>
            </a:pPr>
            <a:r>
              <a:rPr sz="1575" b="0">
                <a:solidFill>
                  <a:srgbClr val="16211D"/>
                </a:solidFill>
                <a:latin typeface="Arial"/>
                <a:ea typeface="Arial"/>
                <a:cs typeface="Arial"/>
              </a:rPr>
              <a:t>Name, unit, age and sex</a:t>
            </a:r>
          </a:p>
        </p:txBody>
      </p:sp>
      <p:sp>
        <p:nvSpPr>
          <p:cNvPr id="12" name="">
            <a:extLst xmlns:a="http://schemas.openxmlformats.org/drawingml/2006/main">
              <a:ext uri="{FF2B5EF4-FFF2-40B4-BE49-F238E27FC236}">
                <a16:creationId xmlns:a16="http://schemas.microsoft.com/office/drawing/2014/main" id="{935D689C-5FD7-497F-A11D-E2401ABC0A47}"/>
              </a:ext>
            </a:extLst>
          </p:cNvPr>
          <p:cNvSpPr>
            <a:spLocks xmlns:a="http://schemas.openxmlformats.org/drawingml/2006/main" noGrp="1"/>
          </p:cNvSpPr>
          <p:nvPr/>
        </p:nvSpPr>
        <p:spPr>
          <a:xfrm xmlns:a="http://schemas.openxmlformats.org/drawingml/2006/main">
            <a:off x="8058150" y="4572000"/>
            <a:ext cx="171450" cy="171450"/>
          </a:xfrm>
          <a:prstGeom xmlns:a="http://schemas.openxmlformats.org/drawingml/2006/main" prst="ellipse">
            <a:avLst/>
          </a:prstGeom>
          <a:solidFill xmlns:a="http://schemas.openxmlformats.org/drawingml/2006/main">
            <a:srgbClr val="D5A6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3940925-B58A-440A-B615-49B24F2AA1C4}"/>
              </a:ext>
            </a:extLst>
          </p:cNvPr>
          <p:cNvSpPr>
            <a:spLocks xmlns:a="http://schemas.openxmlformats.org/drawingml/2006/main" noGrp="1"/>
          </p:cNvSpPr>
          <p:nvPr/>
        </p:nvSpPr>
        <p:spPr>
          <a:xfrm xmlns:a="http://schemas.openxmlformats.org/drawingml/2006/main">
            <a:off x="8401050" y="44577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0">
                <a:solidFill>
                  <a:srgbClr val="16211D"/>
                </a:solidFill>
                <a:latin typeface="Arial"/>
                <a:ea typeface="Arial"/>
                <a:cs typeface="Arial"/>
              </a:defRPr>
            </a:defPPr>
          </a:lstStyle>
          <a:p xmlns:a="http://schemas.openxmlformats.org/drawingml/2006/main">
            <a:pPr algn="l">
              <a:defRPr sz="1575" b="0">
                <a:solidFill>
                  <a:srgbClr val="16211D"/>
                </a:solidFill>
                <a:latin typeface="Arial"/>
                <a:ea typeface="Arial"/>
                <a:cs typeface="Arial"/>
              </a:defRPr>
            </a:pPr>
            <a:r>
              <a:rPr sz="1575" b="0">
                <a:solidFill>
                  <a:srgbClr val="16211D"/>
                </a:solidFill>
                <a:latin typeface="Arial"/>
                <a:ea typeface="Arial"/>
                <a:cs typeface="Arial"/>
              </a:rPr>
              <a:t>Proposed surgery and anaesthetic</a:t>
            </a:r>
          </a:p>
        </p:txBody>
      </p:sp>
      <p:sp>
        <p:nvSpPr>
          <p:cNvPr id="14" name="">
            <a:extLst xmlns:a="http://schemas.openxmlformats.org/drawingml/2006/main">
              <a:ext uri="{FF2B5EF4-FFF2-40B4-BE49-F238E27FC236}">
                <a16:creationId xmlns:a16="http://schemas.microsoft.com/office/drawing/2014/main" id="{42E2AFCA-2829-41EF-B1A1-617647774A5E}"/>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Illustrative demonstration using synthetic patient records</a:t>
            </a:r>
          </a:p>
        </p:txBody>
      </p:sp>
      <p:sp>
        <p:nvSpPr>
          <p:cNvPr id="15" name="">
            <a:extLst xmlns:a="http://schemas.openxmlformats.org/drawingml/2006/main">
              <a:ext uri="{FF2B5EF4-FFF2-40B4-BE49-F238E27FC236}">
                <a16:creationId xmlns:a16="http://schemas.microsoft.com/office/drawing/2014/main" id="{4273AE3F-655C-4BBF-BE69-AD7F8EBDBA02}"/>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815409528"/>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DE51676-76AE-45CB-A493-3CD51CA871A8}"/>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One submission produces the patient documents</a:t>
            </a:r>
          </a:p>
        </p:txBody>
      </p:sp>
      <p:sp>
        <p:nvSpPr>
          <p:cNvPr id="2" name="">
            <a:extLst xmlns:a="http://schemas.openxmlformats.org/drawingml/2006/main">
              <a:ext uri="{FF2B5EF4-FFF2-40B4-BE49-F238E27FC236}">
                <a16:creationId xmlns:a16="http://schemas.microsoft.com/office/drawing/2014/main" id="{77476192-40EC-4787-8F7E-CE9310F1B756}"/>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7F3F6249-F368-4A66-A3B6-E505FCBFEB66}"/>
              </a:ext>
            </a:extLst>
          </p:cNvPr>
          <p:cNvSpPr>
            <a:spLocks xmlns:a="http://schemas.openxmlformats.org/drawingml/2006/main" noGrp="1"/>
          </p:cNvSpPr>
          <p:nvPr/>
        </p:nvSpPr>
        <p:spPr>
          <a:xfrm xmlns:a="http://schemas.openxmlformats.org/drawingml/2006/main">
            <a:off x="685800" y="1181100"/>
            <a:ext cx="3581400" cy="4914900"/>
          </a:xfrm>
          <a:prstGeom xmlns:a="http://schemas.openxmlformats.org/drawingml/2006/main" prst="roundRect">
            <a:avLst>
              <a:gd name="adj" fmla="val 4787"/>
            </a:avLst>
          </a:prstGeom>
          <a:solidFill xmlns:a="http://schemas.openxmlformats.org/drawingml/2006/main">
            <a:srgbClr val="FFFFFF"/>
          </a:solidFill>
          <a:ln xmlns:a="http://schemas.openxmlformats.org/drawingml/2006/main" w="9525">
            <a:solidFill>
              <a:srgbClr val="C8D4C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 name="">
            <a:extLst xmlns:a="http://schemas.openxmlformats.org/drawingml/2006/main">
              <a:ext uri="{FF2B5EF4-FFF2-40B4-BE49-F238E27FC236}">
                <a16:creationId xmlns:a16="http://schemas.microsoft.com/office/drawing/2014/main" id="{1063AAF7-DB6F-4142-9F10-AC200D909040}"/>
              </a:ext>
            </a:extLst>
          </p:cNvPr>
          <p:cNvPicPr>
            <a:picLocks xmlns:a="http://schemas.openxmlformats.org/drawingml/2006/main" noChangeAspect="1"/>
          </p:cNvPicPr>
          <p:nvPr/>
        </p:nvPicPr>
        <p:blipFill>
          <a:blip xmlns:r="http://schemas.openxmlformats.org/officeDocument/2006/relationships" xmlns:a="http://schemas.openxmlformats.org/drawingml/2006/main" r:embed="R4d1124cca5344eec"/>
          <a:stretch xmlns:a="http://schemas.openxmlformats.org/drawingml/2006/main"/>
        </p:blipFill>
        <p:spPr>
          <a:xfrm xmlns:a="http://schemas.openxmlformats.org/drawingml/2006/main">
            <a:off x="762000" y="1280228"/>
            <a:ext cx="3429000" cy="4716644"/>
          </a:xfrm>
          <a:prstGeom xmlns:a="http://schemas.openxmlformats.org/drawingml/2006/main" prst="roundRect">
            <a:avLst>
              <a:gd name="adj" fmla="val 3333"/>
            </a:avLst>
          </a:prstGeom>
        </p:spPr>
      </p:pic>
      <p:sp>
        <p:nvSpPr>
          <p:cNvPr id="5" name="">
            <a:extLst xmlns:a="http://schemas.openxmlformats.org/drawingml/2006/main">
              <a:ext uri="{FF2B5EF4-FFF2-40B4-BE49-F238E27FC236}">
                <a16:creationId xmlns:a16="http://schemas.microsoft.com/office/drawing/2014/main" id="{171D08B5-7AD5-4091-96C5-44E031CD7CB2}"/>
              </a:ext>
            </a:extLst>
          </p:cNvPr>
          <p:cNvSpPr>
            <a:spLocks xmlns:a="http://schemas.openxmlformats.org/drawingml/2006/main" noGrp="1"/>
          </p:cNvSpPr>
          <p:nvPr/>
        </p:nvSpPr>
        <p:spPr>
          <a:xfrm xmlns:a="http://schemas.openxmlformats.org/drawingml/2006/main">
            <a:off x="4638675" y="1181100"/>
            <a:ext cx="3581400" cy="4914900"/>
          </a:xfrm>
          <a:prstGeom xmlns:a="http://schemas.openxmlformats.org/drawingml/2006/main" prst="roundRect">
            <a:avLst>
              <a:gd name="adj" fmla="val 4787"/>
            </a:avLst>
          </a:prstGeom>
          <a:solidFill xmlns:a="http://schemas.openxmlformats.org/drawingml/2006/main">
            <a:srgbClr val="FFFFFF"/>
          </a:solidFill>
          <a:ln xmlns:a="http://schemas.openxmlformats.org/drawingml/2006/main" w="9525">
            <a:solidFill>
              <a:srgbClr val="C8D4C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6" name="">
            <a:extLst xmlns:a="http://schemas.openxmlformats.org/drawingml/2006/main">
              <a:ext uri="{FF2B5EF4-FFF2-40B4-BE49-F238E27FC236}">
                <a16:creationId xmlns:a16="http://schemas.microsoft.com/office/drawing/2014/main" id="{39D7A3E8-14ED-4F11-88A4-83FC3BCD12E0}"/>
              </a:ext>
            </a:extLst>
          </p:cNvPr>
          <p:cNvPicPr>
            <a:picLocks xmlns:a="http://schemas.openxmlformats.org/drawingml/2006/main" noChangeAspect="1"/>
          </p:cNvPicPr>
          <p:nvPr/>
        </p:nvPicPr>
        <p:blipFill>
          <a:blip xmlns:r="http://schemas.openxmlformats.org/officeDocument/2006/relationships" xmlns:a="http://schemas.openxmlformats.org/drawingml/2006/main" r:embed="Rd1c2f28c6ab2424f"/>
          <a:stretch xmlns:a="http://schemas.openxmlformats.org/drawingml/2006/main"/>
        </p:blipFill>
        <p:spPr>
          <a:xfrm xmlns:a="http://schemas.openxmlformats.org/drawingml/2006/main">
            <a:off x="4746625" y="1257300"/>
            <a:ext cx="3365500" cy="4762500"/>
          </a:xfrm>
          <a:prstGeom xmlns:a="http://schemas.openxmlformats.org/drawingml/2006/main" prst="roundRect">
            <a:avLst>
              <a:gd name="adj" fmla="val 3333"/>
            </a:avLst>
          </a:prstGeom>
        </p:spPr>
      </p:pic>
      <p:sp>
        <p:nvSpPr>
          <p:cNvPr id="7" name="">
            <a:extLst xmlns:a="http://schemas.openxmlformats.org/drawingml/2006/main">
              <a:ext uri="{FF2B5EF4-FFF2-40B4-BE49-F238E27FC236}">
                <a16:creationId xmlns:a16="http://schemas.microsoft.com/office/drawing/2014/main" id="{BC50A245-69BA-4A59-9CB9-0A20E3AE00B0}"/>
              </a:ext>
            </a:extLst>
          </p:cNvPr>
          <p:cNvSpPr>
            <a:spLocks xmlns:a="http://schemas.openxmlformats.org/drawingml/2006/main" noGrp="1"/>
          </p:cNvSpPr>
          <p:nvPr/>
        </p:nvSpPr>
        <p:spPr>
          <a:xfrm xmlns:a="http://schemas.openxmlformats.org/drawingml/2006/main">
            <a:off x="8763000" y="16954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325" b="1">
                <a:solidFill>
                  <a:srgbClr val="123D32"/>
                </a:solidFill>
                <a:latin typeface="Arial"/>
                <a:ea typeface="Arial"/>
                <a:cs typeface="Arial"/>
              </a:defRPr>
            </a:defPPr>
          </a:lstStyle>
          <a:p xmlns:a="http://schemas.openxmlformats.org/drawingml/2006/main">
            <a:pPr algn="l">
              <a:defRPr sz="2325" b="1">
                <a:solidFill>
                  <a:srgbClr val="123D32"/>
                </a:solidFill>
                <a:latin typeface="Arial"/>
                <a:ea typeface="Arial"/>
                <a:cs typeface="Arial"/>
              </a:defRPr>
            </a:pPr>
            <a:r>
              <a:rPr sz="2325" b="1">
                <a:solidFill>
                  <a:srgbClr val="123D32"/>
                </a:solidFill>
                <a:latin typeface="Arial"/>
                <a:ea typeface="Arial"/>
                <a:cs typeface="Arial"/>
              </a:rPr>
              <a:t>Token</a:t>
            </a:r>
          </a:p>
        </p:txBody>
      </p:sp>
      <p:sp>
        <p:nvSpPr>
          <p:cNvPr id="8" name="">
            <a:extLst xmlns:a="http://schemas.openxmlformats.org/drawingml/2006/main">
              <a:ext uri="{FF2B5EF4-FFF2-40B4-BE49-F238E27FC236}">
                <a16:creationId xmlns:a16="http://schemas.microsoft.com/office/drawing/2014/main" id="{05CB704E-6327-4C00-8B67-0D1E5B2C6B80}"/>
              </a:ext>
            </a:extLst>
          </p:cNvPr>
          <p:cNvSpPr>
            <a:spLocks xmlns:a="http://schemas.openxmlformats.org/drawingml/2006/main" noGrp="1"/>
          </p:cNvSpPr>
          <p:nvPr/>
        </p:nvSpPr>
        <p:spPr>
          <a:xfrm xmlns:a="http://schemas.openxmlformats.org/drawingml/2006/main">
            <a:off x="8763000" y="2238375"/>
            <a:ext cx="266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The patient receives a compact barcode token with a large visible number.</a:t>
            </a:r>
          </a:p>
        </p:txBody>
      </p:sp>
      <p:sp>
        <p:nvSpPr>
          <p:cNvPr id="9" name="">
            <a:extLst xmlns:a="http://schemas.openxmlformats.org/drawingml/2006/main">
              <a:ext uri="{FF2B5EF4-FFF2-40B4-BE49-F238E27FC236}">
                <a16:creationId xmlns:a16="http://schemas.microsoft.com/office/drawing/2014/main" id="{235A9D98-45AA-49D8-A03E-7548AAB3544B}"/>
              </a:ext>
            </a:extLst>
          </p:cNvPr>
          <p:cNvSpPr>
            <a:spLocks xmlns:a="http://schemas.openxmlformats.org/drawingml/2006/main" noGrp="1"/>
          </p:cNvSpPr>
          <p:nvPr/>
        </p:nvSpPr>
        <p:spPr>
          <a:xfrm xmlns:a="http://schemas.openxmlformats.org/drawingml/2006/main">
            <a:off x="8763000" y="36195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325" b="1">
                <a:solidFill>
                  <a:srgbClr val="123D32"/>
                </a:solidFill>
                <a:latin typeface="Arial"/>
                <a:ea typeface="Arial"/>
                <a:cs typeface="Arial"/>
              </a:defRPr>
            </a:defPPr>
          </a:lstStyle>
          <a:p xmlns:a="http://schemas.openxmlformats.org/drawingml/2006/main">
            <a:pPr algn="l">
              <a:defRPr sz="2325" b="1">
                <a:solidFill>
                  <a:srgbClr val="123D32"/>
                </a:solidFill>
                <a:latin typeface="Arial"/>
                <a:ea typeface="Arial"/>
                <a:cs typeface="Arial"/>
              </a:defRPr>
            </a:pPr>
            <a:r>
              <a:rPr sz="2325" b="1">
                <a:solidFill>
                  <a:srgbClr val="123D32"/>
                </a:solidFill>
                <a:latin typeface="Arial"/>
                <a:ea typeface="Arial"/>
                <a:cs typeface="Arial"/>
              </a:rPr>
              <a:t>Anaesthesia form</a:t>
            </a:r>
          </a:p>
        </p:txBody>
      </p:sp>
      <p:sp>
        <p:nvSpPr>
          <p:cNvPr id="10" name="">
            <a:extLst xmlns:a="http://schemas.openxmlformats.org/drawingml/2006/main">
              <a:ext uri="{FF2B5EF4-FFF2-40B4-BE49-F238E27FC236}">
                <a16:creationId xmlns:a16="http://schemas.microsoft.com/office/drawing/2014/main" id="{4FFE17A7-DB25-435D-BF33-86630D5B7391}"/>
              </a:ext>
            </a:extLst>
          </p:cNvPr>
          <p:cNvSpPr>
            <a:spLocks xmlns:a="http://schemas.openxmlformats.org/drawingml/2006/main" noGrp="1"/>
          </p:cNvSpPr>
          <p:nvPr/>
        </p:nvSpPr>
        <p:spPr>
          <a:xfrm xmlns:a="http://schemas.openxmlformats.org/drawingml/2006/main">
            <a:off x="8763000" y="4171950"/>
            <a:ext cx="2667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7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Reception keeps the two-page form. Patient details are pre-filled and clinical sections remain blank for handwriting.</a:t>
            </a:r>
          </a:p>
        </p:txBody>
      </p:sp>
      <p:sp>
        <p:nvSpPr>
          <p:cNvPr id="11" name="">
            <a:extLst xmlns:a="http://schemas.openxmlformats.org/drawingml/2006/main">
              <a:ext uri="{FF2B5EF4-FFF2-40B4-BE49-F238E27FC236}">
                <a16:creationId xmlns:a16="http://schemas.microsoft.com/office/drawing/2014/main" id="{415FE880-7C4A-4230-8E37-099C8DDEA50B}"/>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Thermal paper dimensions and both printer queues remain configurable until hardware selection.</a:t>
            </a:r>
          </a:p>
        </p:txBody>
      </p:sp>
      <p:sp>
        <p:nvSpPr>
          <p:cNvPr id="12" name="">
            <a:extLst xmlns:a="http://schemas.openxmlformats.org/drawingml/2006/main">
              <a:ext uri="{FF2B5EF4-FFF2-40B4-BE49-F238E27FC236}">
                <a16:creationId xmlns:a16="http://schemas.microsoft.com/office/drawing/2014/main" id="{FCECB7B8-18B3-4706-9156-E565513212F7}"/>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884735412"/>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2F6F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C19BD97-7F0F-4920-AEBF-650F6076232A}"/>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The doctor controls the operation date</a:t>
            </a:r>
          </a:p>
        </p:txBody>
      </p:sp>
      <p:sp>
        <p:nvSpPr>
          <p:cNvPr id="2" name="">
            <a:extLst xmlns:a="http://schemas.openxmlformats.org/drawingml/2006/main">
              <a:ext uri="{FF2B5EF4-FFF2-40B4-BE49-F238E27FC236}">
                <a16:creationId xmlns:a16="http://schemas.microsoft.com/office/drawing/2014/main" id="{A210FC92-00C0-45D9-B395-3B4DC8A306E6}"/>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BC99678-7C65-4051-840F-292269E03854}"/>
              </a:ext>
            </a:extLst>
          </p:cNvPr>
          <p:cNvSpPr>
            <a:spLocks xmlns:a="http://schemas.openxmlformats.org/drawingml/2006/main" noGrp="1"/>
          </p:cNvSpPr>
          <p:nvPr/>
        </p:nvSpPr>
        <p:spPr>
          <a:xfrm xmlns:a="http://schemas.openxmlformats.org/drawingml/2006/main">
            <a:off x="666750" y="1123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950" b="1">
                <a:solidFill>
                  <a:srgbClr val="0A2C25"/>
                </a:solidFill>
                <a:latin typeface="Arial"/>
                <a:ea typeface="Arial"/>
                <a:cs typeface="Arial"/>
              </a:defRPr>
            </a:defPPr>
          </a:lstStyle>
          <a:p xmlns:a="http://schemas.openxmlformats.org/drawingml/2006/main">
            <a:pPr algn="l">
              <a:defRPr sz="1950" b="1">
                <a:solidFill>
                  <a:srgbClr val="0A2C25"/>
                </a:solidFill>
                <a:latin typeface="Arial"/>
                <a:ea typeface="Arial"/>
                <a:cs typeface="Arial"/>
              </a:defRPr>
            </a:pPr>
            <a:r>
              <a:rPr sz="1950" b="1">
                <a:solidFill>
                  <a:srgbClr val="0A2C25"/>
                </a:solidFill>
                <a:latin typeface="Arial"/>
                <a:ea typeface="Arial"/>
                <a:cs typeface="Arial"/>
              </a:rPr>
              <a:t>The system never decides who will receive surgery or when it will happen.</a:t>
            </a:r>
          </a:p>
        </p:txBody>
      </p:sp>
      <p:sp>
        <p:nvSpPr>
          <p:cNvPr id="4" name="">
            <a:extLst xmlns:a="http://schemas.openxmlformats.org/drawingml/2006/main">
              <a:ext uri="{FF2B5EF4-FFF2-40B4-BE49-F238E27FC236}">
                <a16:creationId xmlns:a16="http://schemas.microsoft.com/office/drawing/2014/main" id="{59301000-0D13-4C3C-B0AA-E5FA0230F664}"/>
              </a:ext>
            </a:extLst>
          </p:cNvPr>
          <p:cNvSpPr>
            <a:spLocks xmlns:a="http://schemas.openxmlformats.org/drawingml/2006/main" noGrp="1"/>
          </p:cNvSpPr>
          <p:nvPr/>
        </p:nvSpPr>
        <p:spPr>
          <a:xfrm xmlns:a="http://schemas.openxmlformats.org/drawingml/2006/main">
            <a:off x="590550" y="1809750"/>
            <a:ext cx="7677150" cy="4343400"/>
          </a:xfrm>
          <a:prstGeom xmlns:a="http://schemas.openxmlformats.org/drawingml/2006/main" prst="roundRect">
            <a:avLst>
              <a:gd name="adj" fmla="val 3947"/>
            </a:avLst>
          </a:prstGeom>
          <a:solidFill xmlns:a="http://schemas.openxmlformats.org/drawingml/2006/main">
            <a:srgbClr val="FFFFFF"/>
          </a:solidFill>
          <a:ln xmlns:a="http://schemas.openxmlformats.org/drawingml/2006/main" w="9525">
            <a:solidFill>
              <a:srgbClr val="C8D4C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5" name="">
            <a:extLst xmlns:a="http://schemas.openxmlformats.org/drawingml/2006/main">
              <a:ext uri="{FF2B5EF4-FFF2-40B4-BE49-F238E27FC236}">
                <a16:creationId xmlns:a16="http://schemas.microsoft.com/office/drawing/2014/main" id="{7F9D1381-6777-4212-9319-3633E5F19D93}"/>
              </a:ext>
            </a:extLst>
          </p:cNvPr>
          <p:cNvPicPr>
            <a:picLocks xmlns:a="http://schemas.openxmlformats.org/drawingml/2006/main" noChangeAspect="1"/>
          </p:cNvPicPr>
          <p:nvPr/>
        </p:nvPicPr>
        <p:blipFill>
          <a:blip xmlns:r="http://schemas.openxmlformats.org/officeDocument/2006/relationships" xmlns:a="http://schemas.openxmlformats.org/drawingml/2006/main" r:embed="R8de17d514d68496b"/>
          <a:stretch xmlns:a="http://schemas.openxmlformats.org/drawingml/2006/main"/>
        </p:blipFill>
        <p:spPr>
          <a:xfrm xmlns:a="http://schemas.openxmlformats.org/drawingml/2006/main">
            <a:off x="704374" y="1885950"/>
            <a:ext cx="7449503" cy="4191000"/>
          </a:xfrm>
          <a:prstGeom xmlns:a="http://schemas.openxmlformats.org/drawingml/2006/main" prst="roundRect">
            <a:avLst>
              <a:gd name="adj" fmla="val 2727"/>
            </a:avLst>
          </a:prstGeom>
        </p:spPr>
      </p:pic>
      <p:sp>
        <p:nvSpPr>
          <p:cNvPr id="6" name="">
            <a:extLst xmlns:a="http://schemas.openxmlformats.org/drawingml/2006/main">
              <a:ext uri="{FF2B5EF4-FFF2-40B4-BE49-F238E27FC236}">
                <a16:creationId xmlns:a16="http://schemas.microsoft.com/office/drawing/2014/main" id="{DEDCB324-18D5-48F7-9571-253440E7CC16}"/>
              </a:ext>
            </a:extLst>
          </p:cNvPr>
          <p:cNvSpPr>
            <a:spLocks xmlns:a="http://schemas.openxmlformats.org/drawingml/2006/main" noGrp="1"/>
          </p:cNvSpPr>
          <p:nvPr/>
        </p:nvSpPr>
        <p:spPr>
          <a:xfrm xmlns:a="http://schemas.openxmlformats.org/drawingml/2006/main">
            <a:off x="8763000" y="20955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025" b="1">
                <a:solidFill>
                  <a:srgbClr val="123D32"/>
                </a:solidFill>
                <a:latin typeface="Arial"/>
                <a:ea typeface="Arial"/>
                <a:cs typeface="Arial"/>
              </a:defRPr>
            </a:defPPr>
          </a:lstStyle>
          <a:p xmlns:a="http://schemas.openxmlformats.org/drawingml/2006/main">
            <a:pPr algn="l">
              <a:defRPr sz="2025" b="1">
                <a:solidFill>
                  <a:srgbClr val="123D32"/>
                </a:solidFill>
                <a:latin typeface="Arial"/>
                <a:ea typeface="Arial"/>
                <a:cs typeface="Arial"/>
              </a:defRPr>
            </a:pPr>
            <a:r>
              <a:rPr sz="2025" b="1">
                <a:solidFill>
                  <a:srgbClr val="123D32"/>
                </a:solidFill>
                <a:latin typeface="Arial"/>
                <a:ea typeface="Arial"/>
                <a:cs typeface="Arial"/>
              </a:rPr>
              <a:t>Review</a:t>
            </a:r>
          </a:p>
        </p:txBody>
      </p:sp>
      <p:sp>
        <p:nvSpPr>
          <p:cNvPr id="7" name="">
            <a:extLst xmlns:a="http://schemas.openxmlformats.org/drawingml/2006/main">
              <a:ext uri="{FF2B5EF4-FFF2-40B4-BE49-F238E27FC236}">
                <a16:creationId xmlns:a16="http://schemas.microsoft.com/office/drawing/2014/main" id="{4169CD04-25CF-4966-AB0F-31F85552775A}"/>
              </a:ext>
            </a:extLst>
          </p:cNvPr>
          <p:cNvSpPr>
            <a:spLocks xmlns:a="http://schemas.openxmlformats.org/drawingml/2006/main" noGrp="1"/>
          </p:cNvSpPr>
          <p:nvPr/>
        </p:nvSpPr>
        <p:spPr>
          <a:xfrm xmlns:a="http://schemas.openxmlformats.org/drawingml/2006/main">
            <a:off x="8763000" y="2476500"/>
            <a:ext cx="257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500" b="0">
                <a:solidFill>
                  <a:srgbClr val="5C6A64"/>
                </a:solidFill>
                <a:latin typeface="Arial"/>
                <a:ea typeface="Arial"/>
                <a:cs typeface="Arial"/>
              </a:defRPr>
            </a:defPPr>
          </a:lstStyle>
          <a:p xmlns:a="http://schemas.openxmlformats.org/drawingml/2006/main">
            <a:pPr algn="l">
              <a:defRPr sz="1500" b="0">
                <a:solidFill>
                  <a:srgbClr val="5C6A64"/>
                </a:solidFill>
                <a:latin typeface="Arial"/>
                <a:ea typeface="Arial"/>
                <a:cs typeface="Arial"/>
              </a:defRPr>
            </a:pPr>
            <a:r>
              <a:rPr sz="1500" b="0">
                <a:solidFill>
                  <a:srgbClr val="5C6A64"/>
                </a:solidFill>
                <a:latin typeface="Arial"/>
                <a:ea typeface="Arial"/>
                <a:cs typeface="Arial"/>
              </a:rPr>
              <a:t>Open the original reception record</a:t>
            </a:r>
          </a:p>
        </p:txBody>
      </p:sp>
      <p:sp>
        <p:nvSpPr>
          <p:cNvPr id="8" name="">
            <a:extLst xmlns:a="http://schemas.openxmlformats.org/drawingml/2006/main">
              <a:ext uri="{FF2B5EF4-FFF2-40B4-BE49-F238E27FC236}">
                <a16:creationId xmlns:a16="http://schemas.microsoft.com/office/drawing/2014/main" id="{AE882E70-E8B6-48E4-9830-EB3086D85EED}"/>
              </a:ext>
            </a:extLst>
          </p:cNvPr>
          <p:cNvSpPr>
            <a:spLocks xmlns:a="http://schemas.openxmlformats.org/drawingml/2006/main" noGrp="1"/>
          </p:cNvSpPr>
          <p:nvPr/>
        </p:nvSpPr>
        <p:spPr>
          <a:xfrm xmlns:a="http://schemas.openxmlformats.org/drawingml/2006/main">
            <a:off x="8763000" y="33147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025" b="1">
                <a:solidFill>
                  <a:srgbClr val="123D32"/>
                </a:solidFill>
                <a:latin typeface="Arial"/>
                <a:ea typeface="Arial"/>
                <a:cs typeface="Arial"/>
              </a:defRPr>
            </a:defPPr>
          </a:lstStyle>
          <a:p xmlns:a="http://schemas.openxmlformats.org/drawingml/2006/main">
            <a:pPr algn="l">
              <a:defRPr sz="2025" b="1">
                <a:solidFill>
                  <a:srgbClr val="123D32"/>
                </a:solidFill>
                <a:latin typeface="Arial"/>
                <a:ea typeface="Arial"/>
                <a:cs typeface="Arial"/>
              </a:defRPr>
            </a:pPr>
            <a:r>
              <a:rPr sz="2025" b="1">
                <a:solidFill>
                  <a:srgbClr val="123D32"/>
                </a:solidFill>
                <a:latin typeface="Arial"/>
                <a:ea typeface="Arial"/>
                <a:cs typeface="Arial"/>
              </a:rPr>
              <a:t>Decide</a:t>
            </a:r>
          </a:p>
        </p:txBody>
      </p:sp>
      <p:sp>
        <p:nvSpPr>
          <p:cNvPr id="9" name="">
            <a:extLst xmlns:a="http://schemas.openxmlformats.org/drawingml/2006/main">
              <a:ext uri="{FF2B5EF4-FFF2-40B4-BE49-F238E27FC236}">
                <a16:creationId xmlns:a16="http://schemas.microsoft.com/office/drawing/2014/main" id="{7957B637-7211-4259-98A9-97754F7305DF}"/>
              </a:ext>
            </a:extLst>
          </p:cNvPr>
          <p:cNvSpPr>
            <a:spLocks xmlns:a="http://schemas.openxmlformats.org/drawingml/2006/main" noGrp="1"/>
          </p:cNvSpPr>
          <p:nvPr/>
        </p:nvSpPr>
        <p:spPr>
          <a:xfrm xmlns:a="http://schemas.openxmlformats.org/drawingml/2006/main">
            <a:off x="8763000" y="3695700"/>
            <a:ext cx="257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500" b="0">
                <a:solidFill>
                  <a:srgbClr val="5C6A64"/>
                </a:solidFill>
                <a:latin typeface="Arial"/>
                <a:ea typeface="Arial"/>
                <a:cs typeface="Arial"/>
              </a:defRPr>
            </a:defPPr>
          </a:lstStyle>
          <a:p xmlns:a="http://schemas.openxmlformats.org/drawingml/2006/main">
            <a:pPr algn="l">
              <a:defRPr sz="1500" b="0">
                <a:solidFill>
                  <a:srgbClr val="5C6A64"/>
                </a:solidFill>
                <a:latin typeface="Arial"/>
                <a:ea typeface="Arial"/>
                <a:cs typeface="Arial"/>
              </a:defRPr>
            </a:pPr>
            <a:r>
              <a:rPr sz="1500" b="0">
                <a:solidFill>
                  <a:srgbClr val="5C6A64"/>
                </a:solidFill>
                <a:latin typeface="Arial"/>
                <a:ea typeface="Arial"/>
                <a:cs typeface="Arial"/>
              </a:rPr>
              <a:t>Select the future OT date and clinical details</a:t>
            </a:r>
          </a:p>
        </p:txBody>
      </p:sp>
      <p:sp>
        <p:nvSpPr>
          <p:cNvPr id="10" name="">
            <a:extLst xmlns:a="http://schemas.openxmlformats.org/drawingml/2006/main">
              <a:ext uri="{FF2B5EF4-FFF2-40B4-BE49-F238E27FC236}">
                <a16:creationId xmlns:a16="http://schemas.microsoft.com/office/drawing/2014/main" id="{3D57A717-3E96-4B26-A9CD-C208F3FA9C23}"/>
              </a:ext>
            </a:extLst>
          </p:cNvPr>
          <p:cNvSpPr>
            <a:spLocks xmlns:a="http://schemas.openxmlformats.org/drawingml/2006/main" noGrp="1"/>
          </p:cNvSpPr>
          <p:nvPr/>
        </p:nvSpPr>
        <p:spPr>
          <a:xfrm xmlns:a="http://schemas.openxmlformats.org/drawingml/2006/main">
            <a:off x="8763000" y="45339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025" b="1">
                <a:solidFill>
                  <a:srgbClr val="123D32"/>
                </a:solidFill>
                <a:latin typeface="Arial"/>
                <a:ea typeface="Arial"/>
                <a:cs typeface="Arial"/>
              </a:defRPr>
            </a:defPPr>
          </a:lstStyle>
          <a:p xmlns:a="http://schemas.openxmlformats.org/drawingml/2006/main">
            <a:pPr algn="l">
              <a:defRPr sz="2025" b="1">
                <a:solidFill>
                  <a:srgbClr val="123D32"/>
                </a:solidFill>
                <a:latin typeface="Arial"/>
                <a:ea typeface="Arial"/>
                <a:cs typeface="Arial"/>
              </a:defRPr>
            </a:pPr>
            <a:r>
              <a:rPr sz="2025" b="1">
                <a:solidFill>
                  <a:srgbClr val="123D32"/>
                </a:solidFill>
                <a:latin typeface="Arial"/>
                <a:ea typeface="Arial"/>
                <a:cs typeface="Arial"/>
              </a:rPr>
              <a:t>Schedule</a:t>
            </a:r>
          </a:p>
        </p:txBody>
      </p:sp>
      <p:sp>
        <p:nvSpPr>
          <p:cNvPr id="11" name="">
            <a:extLst xmlns:a="http://schemas.openxmlformats.org/drawingml/2006/main">
              <a:ext uri="{FF2B5EF4-FFF2-40B4-BE49-F238E27FC236}">
                <a16:creationId xmlns:a16="http://schemas.microsoft.com/office/drawing/2014/main" id="{CE65AB13-27CE-49A6-8EF3-112A17041257}"/>
              </a:ext>
            </a:extLst>
          </p:cNvPr>
          <p:cNvSpPr>
            <a:spLocks xmlns:a="http://schemas.openxmlformats.org/drawingml/2006/main" noGrp="1"/>
          </p:cNvSpPr>
          <p:nvPr/>
        </p:nvSpPr>
        <p:spPr>
          <a:xfrm xmlns:a="http://schemas.openxmlformats.org/drawingml/2006/main">
            <a:off x="8763000" y="4914900"/>
            <a:ext cx="257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500" b="0">
                <a:solidFill>
                  <a:srgbClr val="5C6A64"/>
                </a:solidFill>
                <a:latin typeface="Arial"/>
                <a:ea typeface="Arial"/>
                <a:cs typeface="Arial"/>
              </a:defRPr>
            </a:defPPr>
          </a:lstStyle>
          <a:p xmlns:a="http://schemas.openxmlformats.org/drawingml/2006/main">
            <a:pPr algn="l">
              <a:defRPr sz="1500" b="0">
                <a:solidFill>
                  <a:srgbClr val="5C6A64"/>
                </a:solidFill>
                <a:latin typeface="Arial"/>
                <a:ea typeface="Arial"/>
                <a:cs typeface="Arial"/>
              </a:defRPr>
            </a:pPr>
            <a:r>
              <a:rPr sz="1500" b="0">
                <a:solidFill>
                  <a:srgbClr val="5C6A64"/>
                </a:solidFill>
                <a:latin typeface="Arial"/>
                <a:ea typeface="Arial"/>
                <a:cs typeface="Arial"/>
              </a:rPr>
              <a:t>Create that day's OT entry automatically</a:t>
            </a:r>
          </a:p>
        </p:txBody>
      </p:sp>
      <p:sp>
        <p:nvSpPr>
          <p:cNvPr id="12" name="">
            <a:extLst xmlns:a="http://schemas.openxmlformats.org/drawingml/2006/main">
              <a:ext uri="{FF2B5EF4-FFF2-40B4-BE49-F238E27FC236}">
                <a16:creationId xmlns:a16="http://schemas.microsoft.com/office/drawing/2014/main" id="{B7ECC0CF-E5DE-4F79-96A3-70330415B528}"/>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Illustrative demonstration using synthetic patient records</a:t>
            </a:r>
          </a:p>
        </p:txBody>
      </p:sp>
      <p:sp>
        <p:nvSpPr>
          <p:cNvPr id="13" name="">
            <a:extLst xmlns:a="http://schemas.openxmlformats.org/drawingml/2006/main">
              <a:ext uri="{FF2B5EF4-FFF2-40B4-BE49-F238E27FC236}">
                <a16:creationId xmlns:a16="http://schemas.microsoft.com/office/drawing/2014/main" id="{8E27C5AE-777C-4897-AE0F-CC633F0A4FAD}"/>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345217825"/>
      </p:ext>
    </p:extLst>
  </p:cSld>
  <p:transition spd="med" advClick="1">
    <p:fade/>
  </p:transition>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66A01F3-237D-4889-AB80-15A62355661E}"/>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Tomorrow's OT roster is ready from the same records</a:t>
            </a:r>
          </a:p>
        </p:txBody>
      </p:sp>
      <p:sp>
        <p:nvSpPr>
          <p:cNvPr id="2" name="">
            <a:extLst xmlns:a="http://schemas.openxmlformats.org/drawingml/2006/main">
              <a:ext uri="{FF2B5EF4-FFF2-40B4-BE49-F238E27FC236}">
                <a16:creationId xmlns:a16="http://schemas.microsoft.com/office/drawing/2014/main" id="{78F53272-0688-4B42-A18F-72608C767E98}"/>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4BC0098A-1E46-4A97-A230-4C0BA0DF67DF}"/>
              </a:ext>
            </a:extLst>
          </p:cNvPr>
          <p:cNvSpPr>
            <a:spLocks xmlns:a="http://schemas.openxmlformats.org/drawingml/2006/main" noGrp="1"/>
          </p:cNvSpPr>
          <p:nvPr/>
        </p:nvSpPr>
        <p:spPr>
          <a:xfrm xmlns:a="http://schemas.openxmlformats.org/drawingml/2006/main">
            <a:off x="571500" y="1143000"/>
            <a:ext cx="7677150" cy="4838700"/>
          </a:xfrm>
          <a:prstGeom xmlns:a="http://schemas.openxmlformats.org/drawingml/2006/main" prst="roundRect">
            <a:avLst>
              <a:gd name="adj" fmla="val 3543"/>
            </a:avLst>
          </a:prstGeom>
          <a:solidFill xmlns:a="http://schemas.openxmlformats.org/drawingml/2006/main">
            <a:srgbClr val="FFFFFF"/>
          </a:solidFill>
          <a:ln xmlns:a="http://schemas.openxmlformats.org/drawingml/2006/main" w="9525">
            <a:solidFill>
              <a:srgbClr val="C8D4C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 name="">
            <a:extLst xmlns:a="http://schemas.openxmlformats.org/drawingml/2006/main">
              <a:ext uri="{FF2B5EF4-FFF2-40B4-BE49-F238E27FC236}">
                <a16:creationId xmlns:a16="http://schemas.microsoft.com/office/drawing/2014/main" id="{9F9CEB79-9493-45C5-B87F-6A1E047101D9}"/>
              </a:ext>
            </a:extLst>
          </p:cNvPr>
          <p:cNvPicPr>
            <a:picLocks xmlns:a="http://schemas.openxmlformats.org/drawingml/2006/main" noChangeAspect="1"/>
          </p:cNvPicPr>
          <p:nvPr/>
        </p:nvPicPr>
        <p:blipFill>
          <a:blip xmlns:r="http://schemas.openxmlformats.org/officeDocument/2006/relationships" xmlns:a="http://schemas.openxmlformats.org/drawingml/2006/main" r:embed="R72aeceea8b504071"/>
          <a:stretch xmlns:a="http://schemas.openxmlformats.org/drawingml/2006/main"/>
        </p:blipFill>
        <p:spPr>
          <a:xfrm xmlns:a="http://schemas.openxmlformats.org/drawingml/2006/main">
            <a:off x="647700" y="1445683"/>
            <a:ext cx="7524750" cy="4233333"/>
          </a:xfrm>
          <a:prstGeom xmlns:a="http://schemas.openxmlformats.org/drawingml/2006/main" prst="roundRect">
            <a:avLst>
              <a:gd name="adj" fmla="val 2439"/>
            </a:avLst>
          </a:prstGeom>
        </p:spPr>
      </p:pic>
      <p:sp>
        <p:nvSpPr>
          <p:cNvPr id="5" name="">
            <a:extLst xmlns:a="http://schemas.openxmlformats.org/drawingml/2006/main">
              <a:ext uri="{FF2B5EF4-FFF2-40B4-BE49-F238E27FC236}">
                <a16:creationId xmlns:a16="http://schemas.microsoft.com/office/drawing/2014/main" id="{7001CE05-2AB7-4FB9-AF73-D9049DA1FF85}"/>
              </a:ext>
            </a:extLst>
          </p:cNvPr>
          <p:cNvSpPr>
            <a:spLocks xmlns:a="http://schemas.openxmlformats.org/drawingml/2006/main" noGrp="1"/>
          </p:cNvSpPr>
          <p:nvPr/>
        </p:nvSpPr>
        <p:spPr>
          <a:xfrm xmlns:a="http://schemas.openxmlformats.org/drawingml/2006/main">
            <a:off x="8743950" y="15049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522"/>
          </a:bodyPr>
          <a:lstStyle xmlns:a="http://schemas.openxmlformats.org/drawingml/2006/main">
            <a:defPPr algn="l">
              <a:defRPr sz="2175" b="1">
                <a:solidFill>
                  <a:srgbClr val="123D32"/>
                </a:solidFill>
                <a:latin typeface="Arial"/>
                <a:ea typeface="Arial"/>
                <a:cs typeface="Arial"/>
              </a:defRPr>
            </a:defPPr>
          </a:lstStyle>
          <a:p xmlns:a="http://schemas.openxmlformats.org/drawingml/2006/main">
            <a:pPr algn="l">
              <a:defRPr sz="2175" b="1">
                <a:solidFill>
                  <a:srgbClr val="123D32"/>
                </a:solidFill>
                <a:latin typeface="Arial"/>
                <a:ea typeface="Arial"/>
                <a:cs typeface="Arial"/>
              </a:defRPr>
            </a:pPr>
            <a:r>
              <a:rPr sz="2175" b="1">
                <a:solidFill>
                  <a:srgbClr val="123D32"/>
                </a:solidFill>
                <a:latin typeface="Arial"/>
                <a:ea typeface="Arial"/>
                <a:cs typeface="Arial"/>
              </a:rPr>
              <a:t>Simple status controls</a:t>
            </a:r>
          </a:p>
        </p:txBody>
      </p:sp>
      <p:sp>
        <p:nvSpPr>
          <p:cNvPr id="6" name="">
            <a:extLst xmlns:a="http://schemas.openxmlformats.org/drawingml/2006/main">
              <a:ext uri="{FF2B5EF4-FFF2-40B4-BE49-F238E27FC236}">
                <a16:creationId xmlns:a16="http://schemas.microsoft.com/office/drawing/2014/main" id="{39AD644A-F212-45D0-AB2F-5102E0722F4D}"/>
              </a:ext>
            </a:extLst>
          </p:cNvPr>
          <p:cNvSpPr>
            <a:spLocks xmlns:a="http://schemas.openxmlformats.org/drawingml/2006/main" noGrp="1"/>
          </p:cNvSpPr>
          <p:nvPr/>
        </p:nvSpPr>
        <p:spPr>
          <a:xfrm xmlns:a="http://schemas.openxmlformats.org/drawingml/2006/main">
            <a:off x="8782050" y="21907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00" b="1">
                <a:solidFill>
                  <a:srgbClr val="D5A63A"/>
                </a:solidFill>
                <a:latin typeface="Arial"/>
                <a:ea typeface="Arial"/>
                <a:cs typeface="Arial"/>
              </a:defRPr>
            </a:defPPr>
          </a:lstStyle>
          <a:p xmlns:a="http://schemas.openxmlformats.org/drawingml/2006/main">
            <a:pPr algn="l">
              <a:defRPr sz="1200" b="1">
                <a:solidFill>
                  <a:srgbClr val="D5A63A"/>
                </a:solidFill>
                <a:latin typeface="Arial"/>
                <a:ea typeface="Arial"/>
                <a:cs typeface="Arial"/>
              </a:defRPr>
            </a:pPr>
            <a:r>
              <a:rPr sz="1200" b="1">
                <a:solidFill>
                  <a:srgbClr val="D5A63A"/>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48DE6579-0495-4268-99B5-49B660D9AF9C}"/>
              </a:ext>
            </a:extLst>
          </p:cNvPr>
          <p:cNvSpPr>
            <a:spLocks xmlns:a="http://schemas.openxmlformats.org/drawingml/2006/main" noGrp="1"/>
          </p:cNvSpPr>
          <p:nvPr/>
        </p:nvSpPr>
        <p:spPr>
          <a:xfrm xmlns:a="http://schemas.openxmlformats.org/drawingml/2006/main">
            <a:off x="9296400" y="21621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Waiting</a:t>
            </a:r>
          </a:p>
        </p:txBody>
      </p:sp>
      <p:sp>
        <p:nvSpPr>
          <p:cNvPr id="8" name="">
            <a:extLst xmlns:a="http://schemas.openxmlformats.org/drawingml/2006/main">
              <a:ext uri="{FF2B5EF4-FFF2-40B4-BE49-F238E27FC236}">
                <a16:creationId xmlns:a16="http://schemas.microsoft.com/office/drawing/2014/main" id="{2CB0DDB7-DD3E-4270-AB7E-A391906878E5}"/>
              </a:ext>
            </a:extLst>
          </p:cNvPr>
          <p:cNvSpPr>
            <a:spLocks xmlns:a="http://schemas.openxmlformats.org/drawingml/2006/main" noGrp="1"/>
          </p:cNvSpPr>
          <p:nvPr/>
        </p:nvSpPr>
        <p:spPr>
          <a:xfrm xmlns:a="http://schemas.openxmlformats.org/drawingml/2006/main">
            <a:off x="8782050" y="274320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00" b="1">
                <a:solidFill>
                  <a:srgbClr val="D5A63A"/>
                </a:solidFill>
                <a:latin typeface="Arial"/>
                <a:ea typeface="Arial"/>
                <a:cs typeface="Arial"/>
              </a:defRPr>
            </a:defPPr>
          </a:lstStyle>
          <a:p xmlns:a="http://schemas.openxmlformats.org/drawingml/2006/main">
            <a:pPr algn="l">
              <a:defRPr sz="1200" b="1">
                <a:solidFill>
                  <a:srgbClr val="D5A63A"/>
                </a:solidFill>
                <a:latin typeface="Arial"/>
                <a:ea typeface="Arial"/>
                <a:cs typeface="Arial"/>
              </a:defRPr>
            </a:pPr>
            <a:r>
              <a:rPr sz="1200" b="1">
                <a:solidFill>
                  <a:srgbClr val="D5A63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CEAC593C-5C61-4647-A5CC-3EF2EACAE9CF}"/>
              </a:ext>
            </a:extLst>
          </p:cNvPr>
          <p:cNvSpPr>
            <a:spLocks xmlns:a="http://schemas.openxmlformats.org/drawingml/2006/main" noGrp="1"/>
          </p:cNvSpPr>
          <p:nvPr/>
        </p:nvSpPr>
        <p:spPr>
          <a:xfrm xmlns:a="http://schemas.openxmlformats.org/drawingml/2006/main">
            <a:off x="9296400" y="27146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Called</a:t>
            </a:r>
          </a:p>
        </p:txBody>
      </p:sp>
      <p:sp>
        <p:nvSpPr>
          <p:cNvPr id="10" name="">
            <a:extLst xmlns:a="http://schemas.openxmlformats.org/drawingml/2006/main">
              <a:ext uri="{FF2B5EF4-FFF2-40B4-BE49-F238E27FC236}">
                <a16:creationId xmlns:a16="http://schemas.microsoft.com/office/drawing/2014/main" id="{C899590F-89DC-4406-BFC0-2D8A70108714}"/>
              </a:ext>
            </a:extLst>
          </p:cNvPr>
          <p:cNvSpPr>
            <a:spLocks xmlns:a="http://schemas.openxmlformats.org/drawingml/2006/main" noGrp="1"/>
          </p:cNvSpPr>
          <p:nvPr/>
        </p:nvSpPr>
        <p:spPr>
          <a:xfrm xmlns:a="http://schemas.openxmlformats.org/drawingml/2006/main">
            <a:off x="8782050" y="32956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00" b="1">
                <a:solidFill>
                  <a:srgbClr val="D5A63A"/>
                </a:solidFill>
                <a:latin typeface="Arial"/>
                <a:ea typeface="Arial"/>
                <a:cs typeface="Arial"/>
              </a:defRPr>
            </a:defPPr>
          </a:lstStyle>
          <a:p xmlns:a="http://schemas.openxmlformats.org/drawingml/2006/main">
            <a:pPr algn="l">
              <a:defRPr sz="1200" b="1">
                <a:solidFill>
                  <a:srgbClr val="D5A63A"/>
                </a:solidFill>
                <a:latin typeface="Arial"/>
                <a:ea typeface="Arial"/>
                <a:cs typeface="Arial"/>
              </a:defRPr>
            </a:pPr>
            <a:r>
              <a:rPr sz="1200" b="1">
                <a:solidFill>
                  <a:srgbClr val="D5A63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4CABA878-5EA6-42CF-BB05-78930296ABD7}"/>
              </a:ext>
            </a:extLst>
          </p:cNvPr>
          <p:cNvSpPr>
            <a:spLocks xmlns:a="http://schemas.openxmlformats.org/drawingml/2006/main" noGrp="1"/>
          </p:cNvSpPr>
          <p:nvPr/>
        </p:nvSpPr>
        <p:spPr>
          <a:xfrm xmlns:a="http://schemas.openxmlformats.org/drawingml/2006/main">
            <a:off x="9296400" y="32670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In OT</a:t>
            </a:r>
          </a:p>
        </p:txBody>
      </p:sp>
      <p:sp>
        <p:nvSpPr>
          <p:cNvPr id="12" name="">
            <a:extLst xmlns:a="http://schemas.openxmlformats.org/drawingml/2006/main">
              <a:ext uri="{FF2B5EF4-FFF2-40B4-BE49-F238E27FC236}">
                <a16:creationId xmlns:a16="http://schemas.microsoft.com/office/drawing/2014/main" id="{DAA34B8D-44F0-4377-9811-00CA0B5B5031}"/>
              </a:ext>
            </a:extLst>
          </p:cNvPr>
          <p:cNvSpPr>
            <a:spLocks xmlns:a="http://schemas.openxmlformats.org/drawingml/2006/main" noGrp="1"/>
          </p:cNvSpPr>
          <p:nvPr/>
        </p:nvSpPr>
        <p:spPr>
          <a:xfrm xmlns:a="http://schemas.openxmlformats.org/drawingml/2006/main">
            <a:off x="8782050" y="384810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00" b="1">
                <a:solidFill>
                  <a:srgbClr val="D5A63A"/>
                </a:solidFill>
                <a:latin typeface="Arial"/>
                <a:ea typeface="Arial"/>
                <a:cs typeface="Arial"/>
              </a:defRPr>
            </a:defPPr>
          </a:lstStyle>
          <a:p xmlns:a="http://schemas.openxmlformats.org/drawingml/2006/main">
            <a:pPr algn="l">
              <a:defRPr sz="1200" b="1">
                <a:solidFill>
                  <a:srgbClr val="D5A63A"/>
                </a:solidFill>
                <a:latin typeface="Arial"/>
                <a:ea typeface="Arial"/>
                <a:cs typeface="Arial"/>
              </a:defRPr>
            </a:pPr>
            <a:r>
              <a:rPr sz="1200" b="1">
                <a:solidFill>
                  <a:srgbClr val="D5A63A"/>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31D49BA0-EEDE-4443-916E-1F82268BDA3D}"/>
              </a:ext>
            </a:extLst>
          </p:cNvPr>
          <p:cNvSpPr>
            <a:spLocks xmlns:a="http://schemas.openxmlformats.org/drawingml/2006/main" noGrp="1"/>
          </p:cNvSpPr>
          <p:nvPr/>
        </p:nvSpPr>
        <p:spPr>
          <a:xfrm xmlns:a="http://schemas.openxmlformats.org/drawingml/2006/main">
            <a:off x="9296400" y="38195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1">
                <a:solidFill>
                  <a:srgbClr val="123D32"/>
                </a:solidFill>
                <a:latin typeface="Arial"/>
                <a:ea typeface="Arial"/>
                <a:cs typeface="Arial"/>
              </a:defRPr>
            </a:defPPr>
          </a:lstStyle>
          <a:p xmlns:a="http://schemas.openxmlformats.org/drawingml/2006/main">
            <a:pPr algn="l">
              <a:defRPr sz="1650" b="1">
                <a:solidFill>
                  <a:srgbClr val="123D32"/>
                </a:solidFill>
                <a:latin typeface="Arial"/>
                <a:ea typeface="Arial"/>
                <a:cs typeface="Arial"/>
              </a:defRPr>
            </a:pPr>
            <a:r>
              <a:rPr sz="1650" b="1">
                <a:solidFill>
                  <a:srgbClr val="123D32"/>
                </a:solidFill>
                <a:latin typeface="Arial"/>
                <a:ea typeface="Arial"/>
                <a:cs typeface="Arial"/>
              </a:rPr>
              <a:t>In progress</a:t>
            </a:r>
          </a:p>
        </p:txBody>
      </p:sp>
      <p:sp>
        <p:nvSpPr>
          <p:cNvPr id="14" name="">
            <a:extLst xmlns:a="http://schemas.openxmlformats.org/drawingml/2006/main">
              <a:ext uri="{FF2B5EF4-FFF2-40B4-BE49-F238E27FC236}">
                <a16:creationId xmlns:a16="http://schemas.microsoft.com/office/drawing/2014/main" id="{1F6C3EBB-C707-4E92-A456-949314442AE6}"/>
              </a:ext>
            </a:extLst>
          </p:cNvPr>
          <p:cNvSpPr>
            <a:spLocks xmlns:a="http://schemas.openxmlformats.org/drawingml/2006/main" noGrp="1"/>
          </p:cNvSpPr>
          <p:nvPr/>
        </p:nvSpPr>
        <p:spPr>
          <a:xfrm xmlns:a="http://schemas.openxmlformats.org/drawingml/2006/main">
            <a:off x="8782050" y="44005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00" b="1">
                <a:solidFill>
                  <a:srgbClr val="D5A63A"/>
                </a:solidFill>
                <a:latin typeface="Arial"/>
                <a:ea typeface="Arial"/>
                <a:cs typeface="Arial"/>
              </a:defRPr>
            </a:defPPr>
          </a:lstStyle>
          <a:p xmlns:a="http://schemas.openxmlformats.org/drawingml/2006/main">
            <a:pPr algn="l">
              <a:defRPr sz="1200" b="1">
                <a:solidFill>
                  <a:srgbClr val="D5A63A"/>
                </a:solidFill>
                <a:latin typeface="Arial"/>
                <a:ea typeface="Arial"/>
                <a:cs typeface="Arial"/>
              </a:defRPr>
            </a:pPr>
            <a:r>
              <a:rPr sz="1200" b="1">
                <a:solidFill>
                  <a:srgbClr val="D5A63A"/>
                </a:solidFill>
                <a:latin typeface="Arial"/>
                <a:ea typeface="Arial"/>
                <a:cs typeface="Arial"/>
              </a:rPr>
              <a:t>05</a:t>
            </a:r>
          </a:p>
        </p:txBody>
      </p:sp>
      <p:sp>
        <p:nvSpPr>
          <p:cNvPr id="15" name="">
            <a:extLst xmlns:a="http://schemas.openxmlformats.org/drawingml/2006/main">
              <a:ext uri="{FF2B5EF4-FFF2-40B4-BE49-F238E27FC236}">
                <a16:creationId xmlns:a16="http://schemas.microsoft.com/office/drawing/2014/main" id="{B62C892E-E796-4879-9B4B-F1E7C48608E1}"/>
              </a:ext>
            </a:extLst>
          </p:cNvPr>
          <p:cNvSpPr>
            <a:spLocks xmlns:a="http://schemas.openxmlformats.org/drawingml/2006/main" noGrp="1"/>
          </p:cNvSpPr>
          <p:nvPr/>
        </p:nvSpPr>
        <p:spPr>
          <a:xfrm xmlns:a="http://schemas.openxmlformats.org/drawingml/2006/main">
            <a:off x="9296400" y="437197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Completed</a:t>
            </a:r>
          </a:p>
        </p:txBody>
      </p:sp>
      <p:sp>
        <p:nvSpPr>
          <p:cNvPr id="16" name="">
            <a:extLst xmlns:a="http://schemas.openxmlformats.org/drawingml/2006/main">
              <a:ext uri="{FF2B5EF4-FFF2-40B4-BE49-F238E27FC236}">
                <a16:creationId xmlns:a16="http://schemas.microsoft.com/office/drawing/2014/main" id="{70D65D6A-7F0B-4E71-9462-8D5BAE85A306}"/>
              </a:ext>
            </a:extLst>
          </p:cNvPr>
          <p:cNvSpPr>
            <a:spLocks xmlns:a="http://schemas.openxmlformats.org/drawingml/2006/main" noGrp="1"/>
          </p:cNvSpPr>
          <p:nvPr/>
        </p:nvSpPr>
        <p:spPr>
          <a:xfrm xmlns:a="http://schemas.openxmlformats.org/drawingml/2006/main">
            <a:off x="8782050" y="495300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00" b="1">
                <a:solidFill>
                  <a:srgbClr val="D5A63A"/>
                </a:solidFill>
                <a:latin typeface="Arial"/>
                <a:ea typeface="Arial"/>
                <a:cs typeface="Arial"/>
              </a:defRPr>
            </a:defPPr>
          </a:lstStyle>
          <a:p xmlns:a="http://schemas.openxmlformats.org/drawingml/2006/main">
            <a:pPr algn="l">
              <a:defRPr sz="1200" b="1">
                <a:solidFill>
                  <a:srgbClr val="D5A63A"/>
                </a:solidFill>
                <a:latin typeface="Arial"/>
                <a:ea typeface="Arial"/>
                <a:cs typeface="Arial"/>
              </a:defRPr>
            </a:pPr>
            <a:r>
              <a:rPr sz="1200" b="1">
                <a:solidFill>
                  <a:srgbClr val="D5A63A"/>
                </a:solidFill>
                <a:latin typeface="Arial"/>
                <a:ea typeface="Arial"/>
                <a:cs typeface="Arial"/>
              </a:rPr>
              <a:t>06</a:t>
            </a:r>
          </a:p>
        </p:txBody>
      </p:sp>
      <p:sp>
        <p:nvSpPr>
          <p:cNvPr id="17" name="">
            <a:extLst xmlns:a="http://schemas.openxmlformats.org/drawingml/2006/main">
              <a:ext uri="{FF2B5EF4-FFF2-40B4-BE49-F238E27FC236}">
                <a16:creationId xmlns:a16="http://schemas.microsoft.com/office/drawing/2014/main" id="{9EA8D910-8409-4084-BD12-E44061FDB175}"/>
              </a:ext>
            </a:extLst>
          </p:cNvPr>
          <p:cNvSpPr>
            <a:spLocks xmlns:a="http://schemas.openxmlformats.org/drawingml/2006/main" noGrp="1"/>
          </p:cNvSpPr>
          <p:nvPr/>
        </p:nvSpPr>
        <p:spPr>
          <a:xfrm xmlns:a="http://schemas.openxmlformats.org/drawingml/2006/main">
            <a:off x="9296400" y="4924425"/>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Cancelled</a:t>
            </a:r>
          </a:p>
        </p:txBody>
      </p:sp>
      <p:sp>
        <p:nvSpPr>
          <p:cNvPr id="18" name="">
            <a:extLst xmlns:a="http://schemas.openxmlformats.org/drawingml/2006/main">
              <a:ext uri="{FF2B5EF4-FFF2-40B4-BE49-F238E27FC236}">
                <a16:creationId xmlns:a16="http://schemas.microsoft.com/office/drawing/2014/main" id="{84934393-FB82-4106-93AB-0C89CEA221FB}"/>
              </a:ext>
            </a:extLst>
          </p:cNvPr>
          <p:cNvSpPr>
            <a:spLocks xmlns:a="http://schemas.openxmlformats.org/drawingml/2006/main" noGrp="1"/>
          </p:cNvSpPr>
          <p:nvPr/>
        </p:nvSpPr>
        <p:spPr>
          <a:xfrm xmlns:a="http://schemas.openxmlformats.org/drawingml/2006/main">
            <a:off x="8743950" y="5581650"/>
            <a:ext cx="2714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334"/>
          </a:bodyPr>
          <a:lstStyle xmlns:a="http://schemas.openxmlformats.org/drawingml/2006/main">
            <a:defPPr algn="l">
              <a:defRPr sz="1425" b="0">
                <a:solidFill>
                  <a:srgbClr val="5C6A64"/>
                </a:solidFill>
                <a:latin typeface="Arial"/>
                <a:ea typeface="Arial"/>
                <a:cs typeface="Arial"/>
              </a:defRPr>
            </a:defPPr>
          </a:lstStyle>
          <a:p xmlns:a="http://schemas.openxmlformats.org/drawingml/2006/main">
            <a:pPr algn="l">
              <a:defRPr sz="1425" b="0">
                <a:solidFill>
                  <a:srgbClr val="5C6A64"/>
                </a:solidFill>
                <a:latin typeface="Arial"/>
                <a:ea typeface="Arial"/>
                <a:cs typeface="Arial"/>
              </a:defRPr>
            </a:pPr>
            <a:r>
              <a:rPr sz="1425" b="0">
                <a:solidFill>
                  <a:srgbClr val="5C6A64"/>
                </a:solidFill>
                <a:latin typeface="Arial"/>
                <a:ea typeface="Arial"/>
                <a:cs typeface="Arial"/>
              </a:rPr>
              <a:t>The next three waiting patients feed the television display automatically.</a:t>
            </a:r>
          </a:p>
        </p:txBody>
      </p:sp>
      <p:sp>
        <p:nvSpPr>
          <p:cNvPr id="19" name="">
            <a:extLst xmlns:a="http://schemas.openxmlformats.org/drawingml/2006/main">
              <a:ext uri="{FF2B5EF4-FFF2-40B4-BE49-F238E27FC236}">
                <a16:creationId xmlns:a16="http://schemas.microsoft.com/office/drawing/2014/main" id="{8667CCA6-DDEA-4B3B-8FAA-CE75903095DC}"/>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Illustrative demonstration using synthetic patient records</a:t>
            </a:r>
          </a:p>
        </p:txBody>
      </p:sp>
      <p:sp>
        <p:nvSpPr>
          <p:cNvPr id="20" name="">
            <a:extLst xmlns:a="http://schemas.openxmlformats.org/drawingml/2006/main">
              <a:ext uri="{FF2B5EF4-FFF2-40B4-BE49-F238E27FC236}">
                <a16:creationId xmlns:a16="http://schemas.microsoft.com/office/drawing/2014/main" id="{741B06E5-22E9-4306-B40C-E910B20D050B}"/>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2135088061"/>
      </p:ext>
    </p:extLst>
  </p:cSld>
  <p:transition spd="med" advClick="1">
    <p:fade/>
  </p:transition>
</p:sld>
</file>

<file path=ppt/slides/slide8.xml><?xml version="1.0" encoding="utf-8"?>
<p:sld xmlns:p="http://schemas.openxmlformats.org/presentationml/2006/main">
  <p:cSld>
    <p:bg>
      <p:bgPr>
        <a:solidFill xmlns:a="http://schemas.openxmlformats.org/drawingml/2006/main">
          <a:srgbClr val="0A2C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E691C5D-6A7E-47DB-A842-781A29CC06FD}"/>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FFFFFF"/>
                </a:solidFill>
                <a:latin typeface="Arial"/>
                <a:ea typeface="Arial"/>
                <a:cs typeface="Arial"/>
              </a:defRPr>
            </a:defPPr>
          </a:lstStyle>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The room can see the current OT case</a:t>
            </a:r>
          </a:p>
        </p:txBody>
      </p:sp>
      <p:sp>
        <p:nvSpPr>
          <p:cNvPr id="2" name="">
            <a:extLst xmlns:a="http://schemas.openxmlformats.org/drawingml/2006/main">
              <a:ext uri="{FF2B5EF4-FFF2-40B4-BE49-F238E27FC236}">
                <a16:creationId xmlns:a16="http://schemas.microsoft.com/office/drawing/2014/main" id="{196FB38D-C627-4C96-9778-8F7EED036225}"/>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D5A63A"/>
                </a:solidFill>
                <a:latin typeface="Arial"/>
                <a:ea typeface="Arial"/>
                <a:cs typeface="Arial"/>
              </a:defRPr>
            </a:defPPr>
          </a:lstStyle>
          <a:p xmlns:a="http://schemas.openxmlformats.org/drawingml/2006/main">
            <a:pPr algn="r">
              <a:defRPr sz="1350" b="1">
                <a:solidFill>
                  <a:srgbClr val="D5A63A"/>
                </a:solidFill>
                <a:latin typeface="Arial"/>
                <a:ea typeface="Arial"/>
                <a:cs typeface="Arial"/>
              </a:defRPr>
            </a:pPr>
            <a:r>
              <a:rPr sz="1350" b="1">
                <a:solidFill>
                  <a:srgbClr val="D5A63A"/>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C94DBBCF-6028-44DB-A9E7-FF73B2664D7C}"/>
              </a:ext>
            </a:extLst>
          </p:cNvPr>
          <p:cNvSpPr>
            <a:spLocks xmlns:a="http://schemas.openxmlformats.org/drawingml/2006/main" noGrp="1"/>
          </p:cNvSpPr>
          <p:nvPr/>
        </p:nvSpPr>
        <p:spPr>
          <a:xfrm xmlns:a="http://schemas.openxmlformats.org/drawingml/2006/main">
            <a:off x="590550" y="1181100"/>
            <a:ext cx="11010900" cy="462915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C8D4C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 name="">
            <a:extLst xmlns:a="http://schemas.openxmlformats.org/drawingml/2006/main">
              <a:ext uri="{FF2B5EF4-FFF2-40B4-BE49-F238E27FC236}">
                <a16:creationId xmlns:a16="http://schemas.microsoft.com/office/drawing/2014/main" id="{891377CC-9EB2-452D-A1E6-86E79C2E1126}"/>
              </a:ext>
            </a:extLst>
          </p:cNvPr>
          <p:cNvPicPr>
            <a:picLocks xmlns:a="http://schemas.openxmlformats.org/drawingml/2006/main" noChangeAspect="1"/>
          </p:cNvPicPr>
          <p:nvPr/>
        </p:nvPicPr>
        <p:blipFill>
          <a:blip xmlns:r="http://schemas.openxmlformats.org/officeDocument/2006/relationships" xmlns:a="http://schemas.openxmlformats.org/drawingml/2006/main" r:embed="Rd681bb8d63e44fb4"/>
          <a:stretch xmlns:a="http://schemas.openxmlformats.org/drawingml/2006/main"/>
        </p:blipFill>
        <p:spPr>
          <a:xfrm xmlns:a="http://schemas.openxmlformats.org/drawingml/2006/main">
            <a:off x="2117288" y="1257300"/>
            <a:ext cx="7957423" cy="4476750"/>
          </a:xfrm>
          <a:prstGeom xmlns:a="http://schemas.openxmlformats.org/drawingml/2006/main" prst="roundRect">
            <a:avLst>
              <a:gd name="adj" fmla="val 2553"/>
            </a:avLst>
          </a:prstGeom>
        </p:spPr>
      </p:pic>
      <p:sp>
        <p:nvSpPr>
          <p:cNvPr id="5" name="">
            <a:extLst xmlns:a="http://schemas.openxmlformats.org/drawingml/2006/main">
              <a:ext uri="{FF2B5EF4-FFF2-40B4-BE49-F238E27FC236}">
                <a16:creationId xmlns:a16="http://schemas.microsoft.com/office/drawing/2014/main" id="{7E02DA42-46E2-4046-90C3-9AA023B2E746}"/>
              </a:ext>
            </a:extLst>
          </p:cNvPr>
          <p:cNvSpPr>
            <a:spLocks xmlns:a="http://schemas.openxmlformats.org/drawingml/2006/main" noGrp="1"/>
          </p:cNvSpPr>
          <p:nvPr/>
        </p:nvSpPr>
        <p:spPr>
          <a:xfrm xmlns:a="http://schemas.openxmlformats.org/drawingml/2006/main">
            <a:off x="1047750" y="598170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800" b="1">
                <a:solidFill>
                  <a:srgbClr val="FFFFFF"/>
                </a:solidFill>
                <a:latin typeface="Arial"/>
                <a:ea typeface="Arial"/>
                <a:cs typeface="Arial"/>
              </a:defRPr>
            </a:defPPr>
          </a:lstStyle>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Large type for a 43-inch television</a:t>
            </a:r>
          </a:p>
        </p:txBody>
      </p:sp>
      <p:sp>
        <p:nvSpPr>
          <p:cNvPr id="6" name="">
            <a:extLst xmlns:a="http://schemas.openxmlformats.org/drawingml/2006/main">
              <a:ext uri="{FF2B5EF4-FFF2-40B4-BE49-F238E27FC236}">
                <a16:creationId xmlns:a16="http://schemas.microsoft.com/office/drawing/2014/main" id="{38BCAEA6-ED89-4F02-A5E7-A852B05F0F25}"/>
              </a:ext>
            </a:extLst>
          </p:cNvPr>
          <p:cNvSpPr>
            <a:spLocks xmlns:a="http://schemas.openxmlformats.org/drawingml/2006/main" noGrp="1"/>
          </p:cNvSpPr>
          <p:nvPr/>
        </p:nvSpPr>
        <p:spPr>
          <a:xfrm xmlns:a="http://schemas.openxmlformats.org/drawingml/2006/main">
            <a:off x="8810625" y="598170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800" b="1">
                <a:solidFill>
                  <a:srgbClr val="D5A63A"/>
                </a:solidFill>
                <a:latin typeface="Arial"/>
                <a:ea typeface="Arial"/>
                <a:cs typeface="Arial"/>
              </a:defRPr>
            </a:defPPr>
          </a:lstStyle>
          <a:p xmlns:a="http://schemas.openxmlformats.org/drawingml/2006/main">
            <a:pPr algn="r">
              <a:defRPr sz="1800" b="1">
                <a:solidFill>
                  <a:srgbClr val="D5A63A"/>
                </a:solidFill>
                <a:latin typeface="Arial"/>
                <a:ea typeface="Arial"/>
                <a:cs typeface="Arial"/>
              </a:defRPr>
            </a:pPr>
            <a:r>
              <a:rPr sz="1800" b="1">
                <a:solidFill>
                  <a:srgbClr val="D5A63A"/>
                </a:solidFill>
                <a:latin typeface="Arial"/>
                <a:ea typeface="Arial"/>
                <a:cs typeface="Arial"/>
              </a:rPr>
              <a:t>Silent by design</a:t>
            </a:r>
          </a:p>
        </p:txBody>
      </p:sp>
    </p:spTree>
    <p:extLst>
      <p:ext uri="{BB962C8B-B14F-4D97-AF65-F5344CB8AC3E}">
        <p14:creationId xmlns:p14="http://schemas.microsoft.com/office/powerpoint/2010/main" val="443454691"/>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0A2C2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B193C2-15DC-4F97-A009-78433AEE3DFB}"/>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FFFFFF"/>
                </a:solidFill>
                <a:latin typeface="Arial"/>
                <a:ea typeface="Arial"/>
                <a:cs typeface="Arial"/>
              </a:defRPr>
            </a:defPPr>
          </a:lstStyle>
          <a:p xmlns:a="http://schemas.openxmlformats.org/drawingml/2006/main">
            <a:pPr algn="l">
              <a:defRPr sz="3000" b="1">
                <a:solidFill>
                  <a:srgbClr val="FFFFFF"/>
                </a:solidFill>
                <a:latin typeface="Arial"/>
                <a:ea typeface="Arial"/>
                <a:cs typeface="Arial"/>
              </a:defRPr>
            </a:pPr>
            <a:r>
              <a:rPr sz="3000" b="1">
                <a:solidFill>
                  <a:srgbClr val="FFFFFF"/>
                </a:solidFill>
                <a:latin typeface="Arial"/>
                <a:ea typeface="Arial"/>
                <a:cs typeface="Arial"/>
              </a:rPr>
              <a:t>The display then shows the next three patients</a:t>
            </a:r>
          </a:p>
        </p:txBody>
      </p:sp>
      <p:sp>
        <p:nvSpPr>
          <p:cNvPr id="2" name="">
            <a:extLst xmlns:a="http://schemas.openxmlformats.org/drawingml/2006/main">
              <a:ext uri="{FF2B5EF4-FFF2-40B4-BE49-F238E27FC236}">
                <a16:creationId xmlns:a16="http://schemas.microsoft.com/office/drawing/2014/main" id="{6EE30FF2-CF15-4914-8A7B-7E97BDBB22BC}"/>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D5A63A"/>
                </a:solidFill>
                <a:latin typeface="Arial"/>
                <a:ea typeface="Arial"/>
                <a:cs typeface="Arial"/>
              </a:defRPr>
            </a:defPPr>
          </a:lstStyle>
          <a:p xmlns:a="http://schemas.openxmlformats.org/drawingml/2006/main">
            <a:pPr algn="r">
              <a:defRPr sz="1350" b="1">
                <a:solidFill>
                  <a:srgbClr val="D5A63A"/>
                </a:solidFill>
                <a:latin typeface="Arial"/>
                <a:ea typeface="Arial"/>
                <a:cs typeface="Arial"/>
              </a:defRPr>
            </a:pPr>
            <a:r>
              <a:rPr sz="1350" b="1">
                <a:solidFill>
                  <a:srgbClr val="D5A63A"/>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E4671159-2889-4D56-8CED-377F9C29D875}"/>
              </a:ext>
            </a:extLst>
          </p:cNvPr>
          <p:cNvSpPr>
            <a:spLocks xmlns:a="http://schemas.openxmlformats.org/drawingml/2006/main" noGrp="1"/>
          </p:cNvSpPr>
          <p:nvPr/>
        </p:nvSpPr>
        <p:spPr>
          <a:xfrm xmlns:a="http://schemas.openxmlformats.org/drawingml/2006/main">
            <a:off x="590550" y="1181100"/>
            <a:ext cx="11010900" cy="462915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9525">
            <a:solidFill>
              <a:srgbClr val="C8D4CE"/>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pic>
        <p:nvPicPr>
          <p:cNvPr id="4" name="">
            <a:extLst xmlns:a="http://schemas.openxmlformats.org/drawingml/2006/main">
              <a:ext uri="{FF2B5EF4-FFF2-40B4-BE49-F238E27FC236}">
                <a16:creationId xmlns:a16="http://schemas.microsoft.com/office/drawing/2014/main" id="{37BF6B64-43D6-49C3-86FB-694C537A2980}"/>
              </a:ext>
            </a:extLst>
          </p:cNvPr>
          <p:cNvPicPr>
            <a:picLocks xmlns:a="http://schemas.openxmlformats.org/drawingml/2006/main" noChangeAspect="1"/>
          </p:cNvPicPr>
          <p:nvPr/>
        </p:nvPicPr>
        <p:blipFill>
          <a:blip xmlns:r="http://schemas.openxmlformats.org/officeDocument/2006/relationships" xmlns:a="http://schemas.openxmlformats.org/drawingml/2006/main" r:embed="R582d88266153433f"/>
          <a:stretch xmlns:a="http://schemas.openxmlformats.org/drawingml/2006/main"/>
        </p:blipFill>
        <p:spPr>
          <a:xfrm xmlns:a="http://schemas.openxmlformats.org/drawingml/2006/main">
            <a:off x="2117288" y="1257300"/>
            <a:ext cx="7957423" cy="4476750"/>
          </a:xfrm>
          <a:prstGeom xmlns:a="http://schemas.openxmlformats.org/drawingml/2006/main" prst="roundRect">
            <a:avLst>
              <a:gd name="adj" fmla="val 2553"/>
            </a:avLst>
          </a:prstGeom>
        </p:spPr>
      </p:pic>
      <p:sp>
        <p:nvSpPr>
          <p:cNvPr id="5" name="">
            <a:extLst xmlns:a="http://schemas.openxmlformats.org/drawingml/2006/main">
              <a:ext uri="{FF2B5EF4-FFF2-40B4-BE49-F238E27FC236}">
                <a16:creationId xmlns:a16="http://schemas.microsoft.com/office/drawing/2014/main" id="{FF98F48F-2B3C-429B-A8D7-3128AC687DB0}"/>
              </a:ext>
            </a:extLst>
          </p:cNvPr>
          <p:cNvSpPr>
            <a:spLocks xmlns:a="http://schemas.openxmlformats.org/drawingml/2006/main" noGrp="1"/>
          </p:cNvSpPr>
          <p:nvPr/>
        </p:nvSpPr>
        <p:spPr>
          <a:xfrm xmlns:a="http://schemas.openxmlformats.org/drawingml/2006/main">
            <a:off x="1047750" y="59817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Current case: 10 seconds</a:t>
            </a:r>
          </a:p>
        </p:txBody>
      </p:sp>
      <p:sp>
        <p:nvSpPr>
          <p:cNvPr id="6" name="">
            <a:extLst xmlns:a="http://schemas.openxmlformats.org/drawingml/2006/main">
              <a:ext uri="{FF2B5EF4-FFF2-40B4-BE49-F238E27FC236}">
                <a16:creationId xmlns:a16="http://schemas.microsoft.com/office/drawing/2014/main" id="{075B2DED-7E89-4216-A31F-DE88CDB38F88}"/>
              </a:ext>
            </a:extLst>
          </p:cNvPr>
          <p:cNvSpPr>
            <a:spLocks xmlns:a="http://schemas.openxmlformats.org/drawingml/2006/main" noGrp="1"/>
          </p:cNvSpPr>
          <p:nvPr/>
        </p:nvSpPr>
        <p:spPr>
          <a:xfrm xmlns:a="http://schemas.openxmlformats.org/drawingml/2006/main">
            <a:off x="7715250" y="598170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725" b="1">
                <a:solidFill>
                  <a:srgbClr val="D5A63A"/>
                </a:solidFill>
                <a:latin typeface="Arial"/>
                <a:ea typeface="Arial"/>
                <a:cs typeface="Arial"/>
              </a:defRPr>
            </a:defPPr>
          </a:lstStyle>
          <a:p xmlns:a="http://schemas.openxmlformats.org/drawingml/2006/main">
            <a:pPr algn="r">
              <a:defRPr sz="1725" b="1">
                <a:solidFill>
                  <a:srgbClr val="D5A63A"/>
                </a:solidFill>
                <a:latin typeface="Arial"/>
                <a:ea typeface="Arial"/>
                <a:cs typeface="Arial"/>
              </a:defRPr>
            </a:pPr>
            <a:r>
              <a:rPr sz="1725" b="1">
                <a:solidFill>
                  <a:srgbClr val="D5A63A"/>
                </a:solidFill>
                <a:latin typeface="Arial"/>
                <a:ea typeface="Arial"/>
                <a:cs typeface="Arial"/>
              </a:rPr>
              <a:t>Upcoming list: 15 seconds</a:t>
            </a:r>
          </a:p>
        </p:txBody>
      </p:sp>
    </p:spTree>
    <p:extLst>
      <p:ext uri="{BB962C8B-B14F-4D97-AF65-F5344CB8AC3E}">
        <p14:creationId xmlns:p14="http://schemas.microsoft.com/office/powerpoint/2010/main" val="884322466"/>
      </p:ext>
    </p:extLst>
  </p:cSld>
  <p:transition spd="med" advClick="1">
    <p:fade/>
  </p:transition>
</p:sld>
</file>

<file path=ppt/slides/slide10.xml><?xml version="1.0" encoding="utf-8"?>
<p:sld xmlns:p="http://schemas.openxmlformats.org/presentationml/2006/main">
  <p:cSld>
    <p:bg>
      <p:bgPr>
        <a:solidFill xmlns:a="http://schemas.openxmlformats.org/drawingml/2006/main">
          <a:srgbClr val="F2F6F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1C7B5CC-0C5E-42A2-92CF-4C1B88C77AE2}"/>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What improves for each group</a:t>
            </a:r>
          </a:p>
        </p:txBody>
      </p:sp>
      <p:sp>
        <p:nvSpPr>
          <p:cNvPr id="2" name="">
            <a:extLst xmlns:a="http://schemas.openxmlformats.org/drawingml/2006/main">
              <a:ext uri="{FF2B5EF4-FFF2-40B4-BE49-F238E27FC236}">
                <a16:creationId xmlns:a16="http://schemas.microsoft.com/office/drawing/2014/main" id="{D3A0342E-0D99-474D-8FF5-1D1C40C70B71}"/>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AA804084-5456-466C-96DD-C12ACFADB6C9}"/>
              </a:ext>
            </a:extLst>
          </p:cNvPr>
          <p:cNvSpPr>
            <a:spLocks xmlns:a="http://schemas.openxmlformats.org/drawingml/2006/main" noGrp="1"/>
          </p:cNvSpPr>
          <p:nvPr/>
        </p:nvSpPr>
        <p:spPr>
          <a:xfrm xmlns:a="http://schemas.openxmlformats.org/drawingml/2006/main">
            <a:off x="666750" y="1638300"/>
            <a:ext cx="609600" cy="609600"/>
          </a:xfrm>
          <a:prstGeom xmlns:a="http://schemas.openxmlformats.org/drawingml/2006/main" prst="roundRect">
            <a:avLst>
              <a:gd name="adj" fmla="val 50000"/>
            </a:avLst>
          </a:prstGeom>
          <a:solidFill xmlns:a="http://schemas.openxmlformats.org/drawingml/2006/main">
            <a:srgbClr val="123D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7077FE98-EC75-46F2-80C8-ADC220B34355}"/>
              </a:ext>
            </a:extLst>
          </p:cNvPr>
          <p:cNvSpPr>
            <a:spLocks xmlns:a="http://schemas.openxmlformats.org/drawingml/2006/main" noGrp="1"/>
          </p:cNvSpPr>
          <p:nvPr/>
        </p:nvSpPr>
        <p:spPr>
          <a:xfrm xmlns:a="http://schemas.openxmlformats.org/drawingml/2006/main">
            <a:off x="666750" y="25527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250" b="1">
                <a:solidFill>
                  <a:srgbClr val="123D32"/>
                </a:solidFill>
                <a:latin typeface="Arial"/>
                <a:ea typeface="Arial"/>
                <a:cs typeface="Arial"/>
              </a:defRPr>
            </a:defPPr>
          </a:lstStyle>
          <a:p xmlns:a="http://schemas.openxmlformats.org/drawingml/2006/main">
            <a:pPr algn="l">
              <a:defRPr sz="2250" b="1">
                <a:solidFill>
                  <a:srgbClr val="123D32"/>
                </a:solidFill>
                <a:latin typeface="Arial"/>
                <a:ea typeface="Arial"/>
                <a:cs typeface="Arial"/>
              </a:defRPr>
            </a:pPr>
            <a:r>
              <a:rPr sz="2250" b="1">
                <a:solidFill>
                  <a:srgbClr val="123D32"/>
                </a:solidFill>
                <a:latin typeface="Arial"/>
                <a:ea typeface="Arial"/>
                <a:cs typeface="Arial"/>
              </a:rPr>
              <a:t>Patients</a:t>
            </a:r>
          </a:p>
        </p:txBody>
      </p:sp>
      <p:sp>
        <p:nvSpPr>
          <p:cNvPr id="5" name="">
            <a:extLst xmlns:a="http://schemas.openxmlformats.org/drawingml/2006/main">
              <a:ext uri="{FF2B5EF4-FFF2-40B4-BE49-F238E27FC236}">
                <a16:creationId xmlns:a16="http://schemas.microsoft.com/office/drawing/2014/main" id="{65A61B14-86EF-45FA-AA3C-DD62E58AC224}"/>
              </a:ext>
            </a:extLst>
          </p:cNvPr>
          <p:cNvSpPr>
            <a:spLocks xmlns:a="http://schemas.openxmlformats.org/drawingml/2006/main" noGrp="1"/>
          </p:cNvSpPr>
          <p:nvPr/>
        </p:nvSpPr>
        <p:spPr>
          <a:xfrm xmlns:a="http://schemas.openxmlformats.org/drawingml/2006/main">
            <a:off x="666750" y="3219450"/>
            <a:ext cx="2333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lnSpc>
                <a:spcPct val="108000"/>
              </a:lnSpc>
              <a:buNone/>
              <a:defRPr sz="1650" b="0">
                <a:solidFill>
                  <a:srgbClr val="16211D"/>
                </a:solidFill>
                <a:latin typeface="Arial"/>
                <a:ea typeface="Arial"/>
                <a:cs typeface="Arial"/>
              </a:defRPr>
            </a:pPr>
            <a:r>
              <a:rPr sz="1650" b="0">
                <a:solidFill>
                  <a:srgbClr val="16211D"/>
                </a:solidFill>
                <a:latin typeface="Arial"/>
                <a:ea typeface="Arial"/>
                <a:cs typeface="Arial"/>
              </a:rPr>
              <a:t>A clear token and visible queue reduce uncertainty while waiting.</a:t>
            </a:r>
          </a:p>
        </p:txBody>
      </p:sp>
      <p:sp>
        <p:nvSpPr>
          <p:cNvPr id="6" name="">
            <a:extLst xmlns:a="http://schemas.openxmlformats.org/drawingml/2006/main">
              <a:ext uri="{FF2B5EF4-FFF2-40B4-BE49-F238E27FC236}">
                <a16:creationId xmlns:a16="http://schemas.microsoft.com/office/drawing/2014/main" id="{1E75AA1D-E15A-4382-8967-13071947516F}"/>
              </a:ext>
            </a:extLst>
          </p:cNvPr>
          <p:cNvSpPr>
            <a:spLocks xmlns:a="http://schemas.openxmlformats.org/drawingml/2006/main" noGrp="1"/>
          </p:cNvSpPr>
          <p:nvPr/>
        </p:nvSpPr>
        <p:spPr>
          <a:xfrm xmlns:a="http://schemas.openxmlformats.org/drawingml/2006/main">
            <a:off x="3257550" y="1619250"/>
            <a:ext cx="0" cy="3524250"/>
          </a:xfrm>
          <a:prstGeom xmlns:a="http://schemas.openxmlformats.org/drawingml/2006/main" prst="line">
            <a:avLst/>
          </a:prstGeom>
          <a:noFill xmlns:a="http://schemas.openxmlformats.org/drawingml/2006/main"/>
          <a:ln xmlns:a="http://schemas.openxmlformats.org/drawingml/2006/main" w="9525">
            <a:solidFill>
              <a:srgbClr val="C8D4CE"/>
            </a:solidFill>
            <a:prstDash val="solid"/>
          </a:ln>
        </p:spPr>
      </p:sp>
      <p:sp>
        <p:nvSpPr>
          <p:cNvPr id="7" name="">
            <a:extLst xmlns:a="http://schemas.openxmlformats.org/drawingml/2006/main">
              <a:ext uri="{FF2B5EF4-FFF2-40B4-BE49-F238E27FC236}">
                <a16:creationId xmlns:a16="http://schemas.microsoft.com/office/drawing/2014/main" id="{5D638E7C-E1F8-4146-96C5-DB9ACB9940BC}"/>
              </a:ext>
            </a:extLst>
          </p:cNvPr>
          <p:cNvSpPr>
            <a:spLocks xmlns:a="http://schemas.openxmlformats.org/drawingml/2006/main" noGrp="1"/>
          </p:cNvSpPr>
          <p:nvPr/>
        </p:nvSpPr>
        <p:spPr>
          <a:xfrm xmlns:a="http://schemas.openxmlformats.org/drawingml/2006/main">
            <a:off x="3524250" y="1638300"/>
            <a:ext cx="609600" cy="609600"/>
          </a:xfrm>
          <a:prstGeom xmlns:a="http://schemas.openxmlformats.org/drawingml/2006/main" prst="roundRect">
            <a:avLst>
              <a:gd name="adj" fmla="val 50000"/>
            </a:avLst>
          </a:prstGeom>
          <a:solidFill xmlns:a="http://schemas.openxmlformats.org/drawingml/2006/main">
            <a:srgbClr val="123D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2</a:t>
            </a:r>
          </a:p>
        </p:txBody>
      </p:sp>
      <p:sp>
        <p:nvSpPr>
          <p:cNvPr id="8" name="">
            <a:extLst xmlns:a="http://schemas.openxmlformats.org/drawingml/2006/main">
              <a:ext uri="{FF2B5EF4-FFF2-40B4-BE49-F238E27FC236}">
                <a16:creationId xmlns:a16="http://schemas.microsoft.com/office/drawing/2014/main" id="{A2A9A45E-6198-47FB-9295-44A6286633E9}"/>
              </a:ext>
            </a:extLst>
          </p:cNvPr>
          <p:cNvSpPr>
            <a:spLocks xmlns:a="http://schemas.openxmlformats.org/drawingml/2006/main" noGrp="1"/>
          </p:cNvSpPr>
          <p:nvPr/>
        </p:nvSpPr>
        <p:spPr>
          <a:xfrm xmlns:a="http://schemas.openxmlformats.org/drawingml/2006/main">
            <a:off x="3524250" y="25527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250" b="1">
                <a:solidFill>
                  <a:srgbClr val="123D32"/>
                </a:solidFill>
                <a:latin typeface="Arial"/>
                <a:ea typeface="Arial"/>
                <a:cs typeface="Arial"/>
              </a:defRPr>
            </a:defPPr>
          </a:lstStyle>
          <a:p xmlns:a="http://schemas.openxmlformats.org/drawingml/2006/main">
            <a:pPr algn="l">
              <a:defRPr sz="2250" b="1">
                <a:solidFill>
                  <a:srgbClr val="123D32"/>
                </a:solidFill>
                <a:latin typeface="Arial"/>
                <a:ea typeface="Arial"/>
                <a:cs typeface="Arial"/>
              </a:defRPr>
            </a:pPr>
            <a:r>
              <a:rPr sz="2250" b="1">
                <a:solidFill>
                  <a:srgbClr val="123D32"/>
                </a:solidFill>
                <a:latin typeface="Arial"/>
                <a:ea typeface="Arial"/>
                <a:cs typeface="Arial"/>
              </a:rPr>
              <a:t>Reception</a:t>
            </a:r>
          </a:p>
        </p:txBody>
      </p:sp>
      <p:sp>
        <p:nvSpPr>
          <p:cNvPr id="9" name="">
            <a:extLst xmlns:a="http://schemas.openxmlformats.org/drawingml/2006/main">
              <a:ext uri="{FF2B5EF4-FFF2-40B4-BE49-F238E27FC236}">
                <a16:creationId xmlns:a16="http://schemas.microsoft.com/office/drawing/2014/main" id="{9303C01D-9E2A-421B-B460-529CEBDC23A4}"/>
              </a:ext>
            </a:extLst>
          </p:cNvPr>
          <p:cNvSpPr>
            <a:spLocks xmlns:a="http://schemas.openxmlformats.org/drawingml/2006/main" noGrp="1"/>
          </p:cNvSpPr>
          <p:nvPr/>
        </p:nvSpPr>
        <p:spPr>
          <a:xfrm xmlns:a="http://schemas.openxmlformats.org/drawingml/2006/main">
            <a:off x="3524250" y="3219450"/>
            <a:ext cx="2333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lnSpc>
                <a:spcPct val="108000"/>
              </a:lnSpc>
              <a:buNone/>
              <a:defRPr sz="1650" b="0">
                <a:solidFill>
                  <a:srgbClr val="16211D"/>
                </a:solidFill>
                <a:latin typeface="Arial"/>
                <a:ea typeface="Arial"/>
                <a:cs typeface="Arial"/>
              </a:defRPr>
            </a:pPr>
            <a:r>
              <a:rPr sz="1650" b="0">
                <a:solidFill>
                  <a:srgbClr val="16211D"/>
                </a:solidFill>
                <a:latin typeface="Arial"/>
                <a:ea typeface="Arial"/>
                <a:cs typeface="Arial"/>
              </a:rPr>
              <a:t>One short entry creates the record, token and paper form.</a:t>
            </a:r>
          </a:p>
        </p:txBody>
      </p:sp>
      <p:sp>
        <p:nvSpPr>
          <p:cNvPr id="10" name="">
            <a:extLst xmlns:a="http://schemas.openxmlformats.org/drawingml/2006/main">
              <a:ext uri="{FF2B5EF4-FFF2-40B4-BE49-F238E27FC236}">
                <a16:creationId xmlns:a16="http://schemas.microsoft.com/office/drawing/2014/main" id="{0CCC0CE6-287D-4AE0-84F3-23A6C889FB9B}"/>
              </a:ext>
            </a:extLst>
          </p:cNvPr>
          <p:cNvSpPr>
            <a:spLocks xmlns:a="http://schemas.openxmlformats.org/drawingml/2006/main" noGrp="1"/>
          </p:cNvSpPr>
          <p:nvPr/>
        </p:nvSpPr>
        <p:spPr>
          <a:xfrm xmlns:a="http://schemas.openxmlformats.org/drawingml/2006/main">
            <a:off x="6115050" y="1619250"/>
            <a:ext cx="0" cy="3524250"/>
          </a:xfrm>
          <a:prstGeom xmlns:a="http://schemas.openxmlformats.org/drawingml/2006/main" prst="line">
            <a:avLst/>
          </a:prstGeom>
          <a:noFill xmlns:a="http://schemas.openxmlformats.org/drawingml/2006/main"/>
          <a:ln xmlns:a="http://schemas.openxmlformats.org/drawingml/2006/main" w="9525">
            <a:solidFill>
              <a:srgbClr val="C8D4CE"/>
            </a:solidFill>
            <a:prstDash val="solid"/>
          </a:ln>
        </p:spPr>
      </p:sp>
      <p:sp>
        <p:nvSpPr>
          <p:cNvPr id="11" name="">
            <a:extLst xmlns:a="http://schemas.openxmlformats.org/drawingml/2006/main">
              <a:ext uri="{FF2B5EF4-FFF2-40B4-BE49-F238E27FC236}">
                <a16:creationId xmlns:a16="http://schemas.microsoft.com/office/drawing/2014/main" id="{DDB557B2-CE28-4ABD-B5F5-C24A5ABB5F79}"/>
              </a:ext>
            </a:extLst>
          </p:cNvPr>
          <p:cNvSpPr>
            <a:spLocks xmlns:a="http://schemas.openxmlformats.org/drawingml/2006/main" noGrp="1"/>
          </p:cNvSpPr>
          <p:nvPr/>
        </p:nvSpPr>
        <p:spPr>
          <a:xfrm xmlns:a="http://schemas.openxmlformats.org/drawingml/2006/main">
            <a:off x="6381750" y="1638300"/>
            <a:ext cx="609600" cy="609600"/>
          </a:xfrm>
          <a:prstGeom xmlns:a="http://schemas.openxmlformats.org/drawingml/2006/main" prst="roundRect">
            <a:avLst>
              <a:gd name="adj" fmla="val 50000"/>
            </a:avLst>
          </a:prstGeom>
          <a:solidFill xmlns:a="http://schemas.openxmlformats.org/drawingml/2006/main">
            <a:srgbClr val="123D32"/>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6097CD4A-6A73-414A-B24E-FAE9713D2358}"/>
              </a:ext>
            </a:extLst>
          </p:cNvPr>
          <p:cNvSpPr>
            <a:spLocks xmlns:a="http://schemas.openxmlformats.org/drawingml/2006/main" noGrp="1"/>
          </p:cNvSpPr>
          <p:nvPr/>
        </p:nvSpPr>
        <p:spPr>
          <a:xfrm xmlns:a="http://schemas.openxmlformats.org/drawingml/2006/main">
            <a:off x="6381750" y="25527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250" b="1">
                <a:solidFill>
                  <a:srgbClr val="123D32"/>
                </a:solidFill>
                <a:latin typeface="Arial"/>
                <a:ea typeface="Arial"/>
                <a:cs typeface="Arial"/>
              </a:defRPr>
            </a:defPPr>
          </a:lstStyle>
          <a:p xmlns:a="http://schemas.openxmlformats.org/drawingml/2006/main">
            <a:pPr algn="l">
              <a:defRPr sz="2250" b="1">
                <a:solidFill>
                  <a:srgbClr val="123D32"/>
                </a:solidFill>
                <a:latin typeface="Arial"/>
                <a:ea typeface="Arial"/>
                <a:cs typeface="Arial"/>
              </a:defRPr>
            </a:pPr>
            <a:r>
              <a:rPr sz="2250" b="1">
                <a:solidFill>
                  <a:srgbClr val="123D32"/>
                </a:solidFill>
                <a:latin typeface="Arial"/>
                <a:ea typeface="Arial"/>
                <a:cs typeface="Arial"/>
              </a:rPr>
              <a:t>Doctors</a:t>
            </a:r>
          </a:p>
        </p:txBody>
      </p:sp>
      <p:sp>
        <p:nvSpPr>
          <p:cNvPr id="13" name="">
            <a:extLst xmlns:a="http://schemas.openxmlformats.org/drawingml/2006/main">
              <a:ext uri="{FF2B5EF4-FFF2-40B4-BE49-F238E27FC236}">
                <a16:creationId xmlns:a16="http://schemas.microsoft.com/office/drawing/2014/main" id="{29094773-1C37-4A66-A215-3CDDC1BA031C}"/>
              </a:ext>
            </a:extLst>
          </p:cNvPr>
          <p:cNvSpPr>
            <a:spLocks xmlns:a="http://schemas.openxmlformats.org/drawingml/2006/main" noGrp="1"/>
          </p:cNvSpPr>
          <p:nvPr/>
        </p:nvSpPr>
        <p:spPr>
          <a:xfrm xmlns:a="http://schemas.openxmlformats.org/drawingml/2006/main">
            <a:off x="6381750" y="3219450"/>
            <a:ext cx="2333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lnSpc>
                <a:spcPct val="108000"/>
              </a:lnSpc>
              <a:buNone/>
              <a:defRPr sz="1650" b="0">
                <a:solidFill>
                  <a:srgbClr val="16211D"/>
                </a:solidFill>
                <a:latin typeface="Arial"/>
                <a:ea typeface="Arial"/>
                <a:cs typeface="Arial"/>
              </a:defRPr>
            </a:pPr>
            <a:r>
              <a:rPr sz="1650" b="0">
                <a:solidFill>
                  <a:srgbClr val="16211D"/>
                </a:solidFill>
                <a:latin typeface="Arial"/>
                <a:ea typeface="Arial"/>
                <a:cs typeface="Arial"/>
              </a:rPr>
              <a:t>The original record stays available when the operation date is chosen.</a:t>
            </a:r>
          </a:p>
        </p:txBody>
      </p:sp>
      <p:sp>
        <p:nvSpPr>
          <p:cNvPr id="14" name="">
            <a:extLst xmlns:a="http://schemas.openxmlformats.org/drawingml/2006/main">
              <a:ext uri="{FF2B5EF4-FFF2-40B4-BE49-F238E27FC236}">
                <a16:creationId xmlns:a16="http://schemas.microsoft.com/office/drawing/2014/main" id="{8B3E60C6-4BEF-4674-B883-24A5395FC02E}"/>
              </a:ext>
            </a:extLst>
          </p:cNvPr>
          <p:cNvSpPr>
            <a:spLocks xmlns:a="http://schemas.openxmlformats.org/drawingml/2006/main" noGrp="1"/>
          </p:cNvSpPr>
          <p:nvPr/>
        </p:nvSpPr>
        <p:spPr>
          <a:xfrm xmlns:a="http://schemas.openxmlformats.org/drawingml/2006/main">
            <a:off x="8972550" y="1619250"/>
            <a:ext cx="0" cy="3524250"/>
          </a:xfrm>
          <a:prstGeom xmlns:a="http://schemas.openxmlformats.org/drawingml/2006/main" prst="line">
            <a:avLst/>
          </a:prstGeom>
          <a:noFill xmlns:a="http://schemas.openxmlformats.org/drawingml/2006/main"/>
          <a:ln xmlns:a="http://schemas.openxmlformats.org/drawingml/2006/main" w="9525">
            <a:solidFill>
              <a:srgbClr val="C8D4CE"/>
            </a:solidFill>
            <a:prstDash val="solid"/>
          </a:ln>
        </p:spPr>
      </p:sp>
      <p:sp>
        <p:nvSpPr>
          <p:cNvPr id="15" name="">
            <a:extLst xmlns:a="http://schemas.openxmlformats.org/drawingml/2006/main">
              <a:ext uri="{FF2B5EF4-FFF2-40B4-BE49-F238E27FC236}">
                <a16:creationId xmlns:a16="http://schemas.microsoft.com/office/drawing/2014/main" id="{46FEFDE6-41C6-4400-8140-3A886F42A99F}"/>
              </a:ext>
            </a:extLst>
          </p:cNvPr>
          <p:cNvSpPr>
            <a:spLocks xmlns:a="http://schemas.openxmlformats.org/drawingml/2006/main" noGrp="1"/>
          </p:cNvSpPr>
          <p:nvPr/>
        </p:nvSpPr>
        <p:spPr>
          <a:xfrm xmlns:a="http://schemas.openxmlformats.org/drawingml/2006/main">
            <a:off x="9239250" y="1638300"/>
            <a:ext cx="609600" cy="609600"/>
          </a:xfrm>
          <a:prstGeom xmlns:a="http://schemas.openxmlformats.org/drawingml/2006/main" prst="roundRect">
            <a:avLst>
              <a:gd name="adj" fmla="val 50000"/>
            </a:avLst>
          </a:prstGeom>
          <a:solidFill xmlns:a="http://schemas.openxmlformats.org/drawingml/2006/main">
            <a:srgbClr val="D5A6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250" b="1">
                <a:solidFill>
                  <a:srgbClr val="FFFFFF"/>
                </a:solidFill>
                <a:latin typeface="Arial"/>
                <a:ea typeface="Arial"/>
                <a:cs typeface="Arial"/>
              </a:defRPr>
            </a:defPPr>
          </a:lstStyle>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4</a:t>
            </a:r>
          </a:p>
        </p:txBody>
      </p:sp>
      <p:sp>
        <p:nvSpPr>
          <p:cNvPr id="16" name="">
            <a:extLst xmlns:a="http://schemas.openxmlformats.org/drawingml/2006/main">
              <a:ext uri="{FF2B5EF4-FFF2-40B4-BE49-F238E27FC236}">
                <a16:creationId xmlns:a16="http://schemas.microsoft.com/office/drawing/2014/main" id="{BE18599B-5410-48C5-8564-73F64923085D}"/>
              </a:ext>
            </a:extLst>
          </p:cNvPr>
          <p:cNvSpPr>
            <a:spLocks xmlns:a="http://schemas.openxmlformats.org/drawingml/2006/main" noGrp="1"/>
          </p:cNvSpPr>
          <p:nvPr/>
        </p:nvSpPr>
        <p:spPr>
          <a:xfrm xmlns:a="http://schemas.openxmlformats.org/drawingml/2006/main">
            <a:off x="9239250" y="25527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250" b="1">
                <a:solidFill>
                  <a:srgbClr val="123D32"/>
                </a:solidFill>
                <a:latin typeface="Arial"/>
                <a:ea typeface="Arial"/>
                <a:cs typeface="Arial"/>
              </a:defRPr>
            </a:defPPr>
          </a:lstStyle>
          <a:p xmlns:a="http://schemas.openxmlformats.org/drawingml/2006/main">
            <a:pPr algn="l">
              <a:defRPr sz="2250" b="1">
                <a:solidFill>
                  <a:srgbClr val="123D32"/>
                </a:solidFill>
                <a:latin typeface="Arial"/>
                <a:ea typeface="Arial"/>
                <a:cs typeface="Arial"/>
              </a:defRPr>
            </a:pPr>
            <a:r>
              <a:rPr sz="2250" b="1">
                <a:solidFill>
                  <a:srgbClr val="123D32"/>
                </a:solidFill>
                <a:latin typeface="Arial"/>
                <a:ea typeface="Arial"/>
                <a:cs typeface="Arial"/>
              </a:rPr>
              <a:t>OT team</a:t>
            </a:r>
          </a:p>
        </p:txBody>
      </p:sp>
      <p:sp>
        <p:nvSpPr>
          <p:cNvPr id="17" name="">
            <a:extLst xmlns:a="http://schemas.openxmlformats.org/drawingml/2006/main">
              <a:ext uri="{FF2B5EF4-FFF2-40B4-BE49-F238E27FC236}">
                <a16:creationId xmlns:a16="http://schemas.microsoft.com/office/drawing/2014/main" id="{548E695A-CB14-4607-A8E9-FC16ED6DAB64}"/>
              </a:ext>
            </a:extLst>
          </p:cNvPr>
          <p:cNvSpPr>
            <a:spLocks xmlns:a="http://schemas.openxmlformats.org/drawingml/2006/main" noGrp="1"/>
          </p:cNvSpPr>
          <p:nvPr/>
        </p:nvSpPr>
        <p:spPr>
          <a:xfrm xmlns:a="http://schemas.openxmlformats.org/drawingml/2006/main">
            <a:off x="9239250" y="3219450"/>
            <a:ext cx="23336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lnSpc>
                <a:spcPct val="108000"/>
              </a:lnSpc>
              <a:buNone/>
              <a:defRPr sz="1650" b="0">
                <a:solidFill>
                  <a:srgbClr val="16211D"/>
                </a:solidFill>
                <a:latin typeface="Arial"/>
                <a:ea typeface="Arial"/>
                <a:cs typeface="Arial"/>
              </a:defRPr>
            </a:pPr>
            <a:r>
              <a:rPr sz="1650" b="0">
                <a:solidFill>
                  <a:srgbClr val="16211D"/>
                </a:solidFill>
                <a:latin typeface="Arial"/>
                <a:ea typeface="Arial"/>
                <a:cs typeface="Arial"/>
              </a:rPr>
              <a:t>The live roster and wall display follow the same status update.</a:t>
            </a:r>
          </a:p>
        </p:txBody>
      </p:sp>
      <p:sp>
        <p:nvSpPr>
          <p:cNvPr id="18" name="">
            <a:extLst xmlns:a="http://schemas.openxmlformats.org/drawingml/2006/main">
              <a:ext uri="{FF2B5EF4-FFF2-40B4-BE49-F238E27FC236}">
                <a16:creationId xmlns:a16="http://schemas.microsoft.com/office/drawing/2014/main" id="{0D72885E-4898-43C9-8D76-CD89DADFFBFD}"/>
              </a:ext>
            </a:extLst>
          </p:cNvPr>
          <p:cNvSpPr>
            <a:spLocks xmlns:a="http://schemas.openxmlformats.org/drawingml/2006/main" noGrp="1"/>
          </p:cNvSpPr>
          <p:nvPr/>
        </p:nvSpPr>
        <p:spPr>
          <a:xfrm xmlns:a="http://schemas.openxmlformats.org/drawingml/2006/main">
            <a:off x="1571625" y="5572125"/>
            <a:ext cx="904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667"/>
          </a:bodyPr>
          <a:lstStyle xmlns:a="http://schemas.openxmlformats.org/drawingml/2006/main">
            <a:defPPr algn="ctr">
              <a:defRPr sz="1875" b="1">
                <a:solidFill>
                  <a:srgbClr val="0A2C25"/>
                </a:solidFill>
                <a:latin typeface="Arial"/>
                <a:ea typeface="Arial"/>
                <a:cs typeface="Arial"/>
              </a:defRPr>
            </a:defPPr>
          </a:lstStyle>
          <a:p xmlns:a="http://schemas.openxmlformats.org/drawingml/2006/main">
            <a:pPr algn="ctr">
              <a:defRPr sz="1875" b="1">
                <a:solidFill>
                  <a:srgbClr val="0A2C25"/>
                </a:solidFill>
                <a:latin typeface="Arial"/>
                <a:ea typeface="Arial"/>
                <a:cs typeface="Arial"/>
              </a:defRPr>
            </a:pPr>
            <a:r>
              <a:rPr sz="1875" b="1">
                <a:solidFill>
                  <a:srgbClr val="0A2C25"/>
                </a:solidFill>
                <a:latin typeface="Arial"/>
                <a:ea typeface="Arial"/>
                <a:cs typeface="Arial"/>
              </a:rPr>
              <a:t>The software supports the existing clinical process. It does not replace professional judgment.</a:t>
            </a:r>
          </a:p>
        </p:txBody>
      </p:sp>
      <p:sp>
        <p:nvSpPr>
          <p:cNvPr id="19" name="">
            <a:extLst xmlns:a="http://schemas.openxmlformats.org/drawingml/2006/main">
              <a:ext uri="{FF2B5EF4-FFF2-40B4-BE49-F238E27FC236}">
                <a16:creationId xmlns:a16="http://schemas.microsoft.com/office/drawing/2014/main" id="{2D532E9C-49BD-4CFF-BDCF-8ACB1AFB29F2}"/>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Benefits shown are operational expectations for a controlled pilot, not measured results.</a:t>
            </a:r>
          </a:p>
        </p:txBody>
      </p:sp>
      <p:sp>
        <p:nvSpPr>
          <p:cNvPr id="20" name="">
            <a:extLst xmlns:a="http://schemas.openxmlformats.org/drawingml/2006/main">
              <a:ext uri="{FF2B5EF4-FFF2-40B4-BE49-F238E27FC236}">
                <a16:creationId xmlns:a16="http://schemas.microsoft.com/office/drawing/2014/main" id="{90FB643F-5A9F-401A-A2A5-E1203F97CC58}"/>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1498202606"/>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44BF099F-EADA-4B76-B070-0FDD80ED8025}"/>
              </a:ext>
            </a:extLst>
          </p:cNvPr>
          <p:cNvCxnSpPr>
            <a:stCxn xmlns:a="http://schemas.openxmlformats.org/drawingml/2006/main" id="15" idx="1"/>
            <a:endCxn xmlns:a="http://schemas.openxmlformats.org/drawingml/2006/main" id="3" idx="3"/>
          </p:cNvCxnSpPr>
          <p:nvPr/>
        </p:nvCxnSpPr>
        <p:spPr>
          <a:xfrm xmlns:a="http://schemas.openxmlformats.org/drawingml/2006/main" flipH="1" flipV="1">
            <a:off x="7381875" y="3228975"/>
            <a:ext cx="1476375" cy="1676400"/>
          </a:xfrm>
          <a:prstGeom xmlns:a="http://schemas.openxmlformats.org/drawingml/2006/main" prst="bentConnector3">
            <a:avLst>
              <a:gd name="adj1" fmla="val 50000"/>
            </a:avLst>
          </a:prstGeom>
          <a:ln xmlns:a="http://schemas.openxmlformats.org/drawingml/2006/main" w="28575">
            <a:solidFill>
              <a:srgbClr val="D5A63A"/>
            </a:solidFill>
            <a:prstDash val="solid"/>
          </a:ln>
        </p:spPr>
      </p:cxnSp>
      <p:cxnSp>
        <p:nvCxnSpPr>
          <p:cNvPr id="14" name="">
            <a:extLst xmlns:a="http://schemas.openxmlformats.org/drawingml/2006/main">
              <a:ext uri="{FF2B5EF4-FFF2-40B4-BE49-F238E27FC236}">
                <a16:creationId xmlns:a16="http://schemas.microsoft.com/office/drawing/2014/main" id="{DA7A6CD2-5B40-4CC5-A6E5-9042E817A0D6}"/>
              </a:ext>
            </a:extLst>
          </p:cNvPr>
          <p:cNvCxnSpPr>
            <a:stCxn xmlns:a="http://schemas.openxmlformats.org/drawingml/2006/main" id="12" idx="1"/>
            <a:endCxn xmlns:a="http://schemas.openxmlformats.org/drawingml/2006/main" id="3" idx="3"/>
          </p:cNvCxnSpPr>
          <p:nvPr/>
        </p:nvCxnSpPr>
        <p:spPr>
          <a:xfrm xmlns:a="http://schemas.openxmlformats.org/drawingml/2006/main" flipH="1">
            <a:off x="7381875" y="2143125"/>
            <a:ext cx="1476375" cy="1085850"/>
          </a:xfrm>
          <a:prstGeom xmlns:a="http://schemas.openxmlformats.org/drawingml/2006/main" prst="bentConnector3">
            <a:avLst>
              <a:gd name="adj1" fmla="val 50000"/>
            </a:avLst>
          </a:prstGeom>
          <a:ln xmlns:a="http://schemas.openxmlformats.org/drawingml/2006/main" w="28575">
            <a:solidFill>
              <a:srgbClr val="D5A63A"/>
            </a:solidFill>
            <a:prstDash val="solid"/>
          </a:ln>
        </p:spPr>
      </p:cxnSp>
      <p:cxnSp>
        <p:nvCxnSpPr>
          <p:cNvPr id="11" name="">
            <a:extLst xmlns:a="http://schemas.openxmlformats.org/drawingml/2006/main">
              <a:ext uri="{FF2B5EF4-FFF2-40B4-BE49-F238E27FC236}">
                <a16:creationId xmlns:a16="http://schemas.microsoft.com/office/drawing/2014/main" id="{0035D4DC-D4BF-4BEE-A998-BEAA294A96A7}"/>
              </a:ext>
            </a:extLst>
          </p:cNvPr>
          <p:cNvCxnSpPr>
            <a:stCxn xmlns:a="http://schemas.openxmlformats.org/drawingml/2006/main" id="9" idx="3"/>
            <a:endCxn xmlns:a="http://schemas.openxmlformats.org/drawingml/2006/main" id="3" idx="1"/>
          </p:cNvCxnSpPr>
          <p:nvPr/>
        </p:nvCxnSpPr>
        <p:spPr>
          <a:xfrm xmlns:a="http://schemas.openxmlformats.org/drawingml/2006/main" flipV="1">
            <a:off x="3333750" y="3228975"/>
            <a:ext cx="1476375" cy="1676400"/>
          </a:xfrm>
          <a:prstGeom xmlns:a="http://schemas.openxmlformats.org/drawingml/2006/main" prst="bentConnector3">
            <a:avLst>
              <a:gd name="adj1" fmla="val 50000"/>
            </a:avLst>
          </a:prstGeom>
          <a:ln xmlns:a="http://schemas.openxmlformats.org/drawingml/2006/main" w="28575">
            <a:solidFill>
              <a:srgbClr val="D5A63A"/>
            </a:solidFill>
            <a:prstDash val="solid"/>
          </a:ln>
        </p:spPr>
      </p:cxnSp>
      <p:cxnSp>
        <p:nvCxnSpPr>
          <p:cNvPr id="8" name="">
            <a:extLst xmlns:a="http://schemas.openxmlformats.org/drawingml/2006/main">
              <a:ext uri="{FF2B5EF4-FFF2-40B4-BE49-F238E27FC236}">
                <a16:creationId xmlns:a16="http://schemas.microsoft.com/office/drawing/2014/main" id="{3F82CCB3-8728-4EA9-8721-DF25CE6BB6E0}"/>
              </a:ext>
            </a:extLst>
          </p:cNvPr>
          <p:cNvCxnSpPr>
            <a:stCxn xmlns:a="http://schemas.openxmlformats.org/drawingml/2006/main" id="6" idx="3"/>
            <a:endCxn xmlns:a="http://schemas.openxmlformats.org/drawingml/2006/main" id="3" idx="1"/>
          </p:cNvCxnSpPr>
          <p:nvPr/>
        </p:nvCxnSpPr>
        <p:spPr>
          <a:xfrm xmlns:a="http://schemas.openxmlformats.org/drawingml/2006/main">
            <a:off x="3333750" y="2143125"/>
            <a:ext cx="1476375" cy="1085850"/>
          </a:xfrm>
          <a:prstGeom xmlns:a="http://schemas.openxmlformats.org/drawingml/2006/main" prst="bentConnector3">
            <a:avLst>
              <a:gd name="adj1" fmla="val 50000"/>
            </a:avLst>
          </a:prstGeom>
          <a:ln xmlns:a="http://schemas.openxmlformats.org/drawingml/2006/main" w="28575">
            <a:solidFill>
              <a:srgbClr val="D5A63A"/>
            </a:solidFill>
            <a:prstDash val="solid"/>
          </a:ln>
        </p:spPr>
      </p:cxnSp>
      <p:sp>
        <p:nvSpPr>
          <p:cNvPr id="22" name="">
            <a:extLst xmlns:a="http://schemas.openxmlformats.org/drawingml/2006/main">
              <a:ext uri="{FF2B5EF4-FFF2-40B4-BE49-F238E27FC236}">
                <a16:creationId xmlns:a16="http://schemas.microsoft.com/office/drawing/2014/main" id="{DE35D9E8-AA4A-4ED2-8944-66E1CA794942}"/>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Deployment inside the CMH network</a:t>
            </a:r>
          </a:p>
        </p:txBody>
      </p:sp>
      <p:sp>
        <p:nvSpPr>
          <p:cNvPr id="2" name="">
            <a:extLst xmlns:a="http://schemas.openxmlformats.org/drawingml/2006/main">
              <a:ext uri="{FF2B5EF4-FFF2-40B4-BE49-F238E27FC236}">
                <a16:creationId xmlns:a16="http://schemas.microsoft.com/office/drawing/2014/main" id="{3E0EC041-B7A1-427E-8682-5AFBC0861B39}"/>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F9CFE9C-4803-4C24-A639-51BC7AD1D4F0}"/>
              </a:ext>
            </a:extLst>
          </p:cNvPr>
          <p:cNvSpPr>
            <a:spLocks xmlns:a="http://schemas.openxmlformats.org/drawingml/2006/main" noGrp="1"/>
          </p:cNvSpPr>
          <p:nvPr/>
        </p:nvSpPr>
        <p:spPr>
          <a:xfrm xmlns:a="http://schemas.openxmlformats.org/drawingml/2006/main">
            <a:off x="4810125" y="2514600"/>
            <a:ext cx="2571750" cy="1428750"/>
          </a:xfrm>
          <a:prstGeom xmlns:a="http://schemas.openxmlformats.org/drawingml/2006/main" prst="roundRect">
            <a:avLst>
              <a:gd name="adj" fmla="val 13333"/>
            </a:avLst>
          </a:prstGeom>
          <a:solidFill xmlns:a="http://schemas.openxmlformats.org/drawingml/2006/main">
            <a:srgbClr val="123D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F3D144-5C4E-4208-8225-0899A4A6B107}"/>
              </a:ext>
            </a:extLst>
          </p:cNvPr>
          <p:cNvSpPr>
            <a:spLocks xmlns:a="http://schemas.openxmlformats.org/drawingml/2006/main" noGrp="1"/>
          </p:cNvSpPr>
          <p:nvPr/>
        </p:nvSpPr>
        <p:spPr>
          <a:xfrm xmlns:a="http://schemas.openxmlformats.org/drawingml/2006/main">
            <a:off x="5095875" y="280035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CMH SERVER PC</a:t>
            </a:r>
          </a:p>
        </p:txBody>
      </p:sp>
      <p:sp>
        <p:nvSpPr>
          <p:cNvPr id="5" name="">
            <a:extLst xmlns:a="http://schemas.openxmlformats.org/drawingml/2006/main">
              <a:ext uri="{FF2B5EF4-FFF2-40B4-BE49-F238E27FC236}">
                <a16:creationId xmlns:a16="http://schemas.microsoft.com/office/drawing/2014/main" id="{B47062B7-E2DA-44F5-B365-786C1EDCF92E}"/>
              </a:ext>
            </a:extLst>
          </p:cNvPr>
          <p:cNvSpPr>
            <a:spLocks xmlns:a="http://schemas.openxmlformats.org/drawingml/2006/main" noGrp="1"/>
          </p:cNvSpPr>
          <p:nvPr/>
        </p:nvSpPr>
        <p:spPr>
          <a:xfrm xmlns:a="http://schemas.openxmlformats.org/drawingml/2006/main">
            <a:off x="5095875" y="3295650"/>
            <a:ext cx="200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0">
                <a:solidFill>
                  <a:srgbClr val="DCEAE4"/>
                </a:solidFill>
                <a:latin typeface="Arial"/>
                <a:ea typeface="Arial"/>
                <a:cs typeface="Arial"/>
              </a:defRPr>
            </a:defPPr>
          </a:lstStyle>
          <a:p xmlns:a="http://schemas.openxmlformats.org/drawingml/2006/main">
            <a:pPr algn="ctr">
              <a:defRPr sz="1350" b="0">
                <a:solidFill>
                  <a:srgbClr val="DCEAE4"/>
                </a:solidFill>
                <a:latin typeface="Arial"/>
                <a:ea typeface="Arial"/>
                <a:cs typeface="Arial"/>
              </a:defRPr>
            </a:pPr>
            <a:r>
              <a:rPr sz="1350" b="0">
                <a:solidFill>
                  <a:srgbClr val="DCEAE4"/>
                </a:solidFill>
                <a:latin typeface="Arial"/>
                <a:ea typeface="Arial"/>
                <a:cs typeface="Arial"/>
              </a:rPr>
              <a:t>Database and application</a:t>
            </a:r>
          </a:p>
        </p:txBody>
      </p:sp>
      <p:sp>
        <p:nvSpPr>
          <p:cNvPr id="6" name="">
            <a:extLst xmlns:a="http://schemas.openxmlformats.org/drawingml/2006/main">
              <a:ext uri="{FF2B5EF4-FFF2-40B4-BE49-F238E27FC236}">
                <a16:creationId xmlns:a16="http://schemas.microsoft.com/office/drawing/2014/main" id="{A8BB4635-08B2-4FB5-9A9F-E7B79558F806}"/>
              </a:ext>
            </a:extLst>
          </p:cNvPr>
          <p:cNvSpPr>
            <a:spLocks xmlns:a="http://schemas.openxmlformats.org/drawingml/2006/main" noGrp="1"/>
          </p:cNvSpPr>
          <p:nvPr/>
        </p:nvSpPr>
        <p:spPr>
          <a:xfrm xmlns:a="http://schemas.openxmlformats.org/drawingml/2006/main">
            <a:off x="762000" y="1619250"/>
            <a:ext cx="2571750" cy="1047750"/>
          </a:xfrm>
          <a:prstGeom xmlns:a="http://schemas.openxmlformats.org/drawingml/2006/main" prst="roundRect">
            <a:avLst>
              <a:gd name="adj" fmla="val 16364"/>
            </a:avLst>
          </a:prstGeom>
          <a:solidFill xmlns:a="http://schemas.openxmlformats.org/drawingml/2006/main">
            <a:srgbClr val="F2F6F3"/>
          </a:solidFill>
          <a:ln xmlns:a="http://schemas.openxmlformats.org/drawingml/2006/main" w="19050">
            <a:solidFill>
              <a:srgbClr val="C8D4CE"/>
            </a:solidFill>
            <a:prstDash val="solid"/>
          </a:ln>
        </p:spPr>
      </p:sp>
      <p:sp>
        <p:nvSpPr>
          <p:cNvPr id="7" name="">
            <a:extLst xmlns:a="http://schemas.openxmlformats.org/drawingml/2006/main">
              <a:ext uri="{FF2B5EF4-FFF2-40B4-BE49-F238E27FC236}">
                <a16:creationId xmlns:a16="http://schemas.microsoft.com/office/drawing/2014/main" id="{148D9032-9FDD-4512-B7A4-3659F7319CCE}"/>
              </a:ext>
            </a:extLst>
          </p:cNvPr>
          <p:cNvSpPr>
            <a:spLocks xmlns:a="http://schemas.openxmlformats.org/drawingml/2006/main" noGrp="1"/>
          </p:cNvSpPr>
          <p:nvPr/>
        </p:nvSpPr>
        <p:spPr>
          <a:xfrm xmlns:a="http://schemas.openxmlformats.org/drawingml/2006/main">
            <a:off x="952500" y="190500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123D32"/>
                </a:solidFill>
                <a:latin typeface="Arial"/>
                <a:ea typeface="Arial"/>
                <a:cs typeface="Arial"/>
              </a:defRPr>
            </a:defPPr>
          </a:lstStyle>
          <a:p xmlns:a="http://schemas.openxmlformats.org/drawingml/2006/main">
            <a:pPr algn="ctr">
              <a:defRPr sz="1800" b="1">
                <a:solidFill>
                  <a:srgbClr val="123D32"/>
                </a:solidFill>
                <a:latin typeface="Arial"/>
                <a:ea typeface="Arial"/>
                <a:cs typeface="Arial"/>
              </a:defRPr>
            </a:pPr>
            <a:r>
              <a:rPr sz="1800" b="1">
                <a:solidFill>
                  <a:srgbClr val="123D32"/>
                </a:solidFill>
                <a:latin typeface="Arial"/>
                <a:ea typeface="Arial"/>
                <a:cs typeface="Arial"/>
              </a:rPr>
              <a:t>Reception PC</a:t>
            </a:r>
          </a:p>
        </p:txBody>
      </p:sp>
      <p:sp>
        <p:nvSpPr>
          <p:cNvPr id="9" name="">
            <a:extLst xmlns:a="http://schemas.openxmlformats.org/drawingml/2006/main">
              <a:ext uri="{FF2B5EF4-FFF2-40B4-BE49-F238E27FC236}">
                <a16:creationId xmlns:a16="http://schemas.microsoft.com/office/drawing/2014/main" id="{F3F6C264-BE6E-4C22-B5C3-0057DBDCCB25}"/>
              </a:ext>
            </a:extLst>
          </p:cNvPr>
          <p:cNvSpPr>
            <a:spLocks xmlns:a="http://schemas.openxmlformats.org/drawingml/2006/main" noGrp="1"/>
          </p:cNvSpPr>
          <p:nvPr/>
        </p:nvSpPr>
        <p:spPr>
          <a:xfrm xmlns:a="http://schemas.openxmlformats.org/drawingml/2006/main">
            <a:off x="762000" y="4381500"/>
            <a:ext cx="2571750" cy="1047750"/>
          </a:xfrm>
          <a:prstGeom xmlns:a="http://schemas.openxmlformats.org/drawingml/2006/main" prst="roundRect">
            <a:avLst>
              <a:gd name="adj" fmla="val 16364"/>
            </a:avLst>
          </a:prstGeom>
          <a:solidFill xmlns:a="http://schemas.openxmlformats.org/drawingml/2006/main">
            <a:srgbClr val="F2F6F3"/>
          </a:solidFill>
          <a:ln xmlns:a="http://schemas.openxmlformats.org/drawingml/2006/main" w="19050">
            <a:solidFill>
              <a:srgbClr val="C8D4CE"/>
            </a:solidFill>
            <a:prstDash val="solid"/>
          </a:ln>
        </p:spPr>
      </p:sp>
      <p:sp>
        <p:nvSpPr>
          <p:cNvPr id="10" name="">
            <a:extLst xmlns:a="http://schemas.openxmlformats.org/drawingml/2006/main">
              <a:ext uri="{FF2B5EF4-FFF2-40B4-BE49-F238E27FC236}">
                <a16:creationId xmlns:a16="http://schemas.microsoft.com/office/drawing/2014/main" id="{60F5E106-516D-4B38-AC5F-B50119404BAC}"/>
              </a:ext>
            </a:extLst>
          </p:cNvPr>
          <p:cNvSpPr>
            <a:spLocks xmlns:a="http://schemas.openxmlformats.org/drawingml/2006/main" noGrp="1"/>
          </p:cNvSpPr>
          <p:nvPr/>
        </p:nvSpPr>
        <p:spPr>
          <a:xfrm xmlns:a="http://schemas.openxmlformats.org/drawingml/2006/main">
            <a:off x="952500" y="4667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123D32"/>
                </a:solidFill>
                <a:latin typeface="Arial"/>
                <a:ea typeface="Arial"/>
                <a:cs typeface="Arial"/>
              </a:defRPr>
            </a:defPPr>
          </a:lstStyle>
          <a:p xmlns:a="http://schemas.openxmlformats.org/drawingml/2006/main">
            <a:pPr algn="ctr">
              <a:defRPr sz="1800" b="1">
                <a:solidFill>
                  <a:srgbClr val="123D32"/>
                </a:solidFill>
                <a:latin typeface="Arial"/>
                <a:ea typeface="Arial"/>
                <a:cs typeface="Arial"/>
              </a:defRPr>
            </a:pPr>
            <a:r>
              <a:rPr sz="1800" b="1">
                <a:solidFill>
                  <a:srgbClr val="123D32"/>
                </a:solidFill>
                <a:latin typeface="Arial"/>
                <a:ea typeface="Arial"/>
                <a:cs typeface="Arial"/>
              </a:rPr>
              <a:t>Doctor PC</a:t>
            </a:r>
          </a:p>
        </p:txBody>
      </p:sp>
      <p:sp>
        <p:nvSpPr>
          <p:cNvPr id="12" name="">
            <a:extLst xmlns:a="http://schemas.openxmlformats.org/drawingml/2006/main">
              <a:ext uri="{FF2B5EF4-FFF2-40B4-BE49-F238E27FC236}">
                <a16:creationId xmlns:a16="http://schemas.microsoft.com/office/drawing/2014/main" id="{AF43C3F1-4508-4803-962F-B69D0BF3EACA}"/>
              </a:ext>
            </a:extLst>
          </p:cNvPr>
          <p:cNvSpPr>
            <a:spLocks xmlns:a="http://schemas.openxmlformats.org/drawingml/2006/main" noGrp="1"/>
          </p:cNvSpPr>
          <p:nvPr/>
        </p:nvSpPr>
        <p:spPr>
          <a:xfrm xmlns:a="http://schemas.openxmlformats.org/drawingml/2006/main">
            <a:off x="8858250" y="1619250"/>
            <a:ext cx="2571750" cy="1047750"/>
          </a:xfrm>
          <a:prstGeom xmlns:a="http://schemas.openxmlformats.org/drawingml/2006/main" prst="roundRect">
            <a:avLst>
              <a:gd name="adj" fmla="val 16364"/>
            </a:avLst>
          </a:prstGeom>
          <a:solidFill xmlns:a="http://schemas.openxmlformats.org/drawingml/2006/main">
            <a:srgbClr val="F2F6F3"/>
          </a:solidFill>
          <a:ln xmlns:a="http://schemas.openxmlformats.org/drawingml/2006/main" w="19050">
            <a:solidFill>
              <a:srgbClr val="C8D4CE"/>
            </a:solidFill>
            <a:prstDash val="solid"/>
          </a:ln>
        </p:spPr>
      </p:sp>
      <p:sp>
        <p:nvSpPr>
          <p:cNvPr id="13" name="">
            <a:extLst xmlns:a="http://schemas.openxmlformats.org/drawingml/2006/main">
              <a:ext uri="{FF2B5EF4-FFF2-40B4-BE49-F238E27FC236}">
                <a16:creationId xmlns:a16="http://schemas.microsoft.com/office/drawing/2014/main" id="{870C7BA3-4264-4B16-8E6F-F04AD414976F}"/>
              </a:ext>
            </a:extLst>
          </p:cNvPr>
          <p:cNvSpPr>
            <a:spLocks xmlns:a="http://schemas.openxmlformats.org/drawingml/2006/main" noGrp="1"/>
          </p:cNvSpPr>
          <p:nvPr/>
        </p:nvSpPr>
        <p:spPr>
          <a:xfrm xmlns:a="http://schemas.openxmlformats.org/drawingml/2006/main">
            <a:off x="9048750" y="190500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123D32"/>
                </a:solidFill>
                <a:latin typeface="Arial"/>
                <a:ea typeface="Arial"/>
                <a:cs typeface="Arial"/>
              </a:defRPr>
            </a:defPPr>
          </a:lstStyle>
          <a:p xmlns:a="http://schemas.openxmlformats.org/drawingml/2006/main">
            <a:pPr algn="ctr">
              <a:defRPr sz="1800" b="1">
                <a:solidFill>
                  <a:srgbClr val="123D32"/>
                </a:solidFill>
                <a:latin typeface="Arial"/>
                <a:ea typeface="Arial"/>
                <a:cs typeface="Arial"/>
              </a:defRPr>
            </a:pPr>
            <a:r>
              <a:rPr sz="1800" b="1">
                <a:solidFill>
                  <a:srgbClr val="123D32"/>
                </a:solidFill>
                <a:latin typeface="Arial"/>
                <a:ea typeface="Arial"/>
                <a:cs typeface="Arial"/>
              </a:rPr>
              <a:t>OT control PC</a:t>
            </a:r>
          </a:p>
        </p:txBody>
      </p:sp>
      <p:sp>
        <p:nvSpPr>
          <p:cNvPr id="15" name="">
            <a:extLst xmlns:a="http://schemas.openxmlformats.org/drawingml/2006/main">
              <a:ext uri="{FF2B5EF4-FFF2-40B4-BE49-F238E27FC236}">
                <a16:creationId xmlns:a16="http://schemas.microsoft.com/office/drawing/2014/main" id="{8844DEC2-D32A-478B-BE25-6644CC7E8DC2}"/>
              </a:ext>
            </a:extLst>
          </p:cNvPr>
          <p:cNvSpPr>
            <a:spLocks xmlns:a="http://schemas.openxmlformats.org/drawingml/2006/main" noGrp="1"/>
          </p:cNvSpPr>
          <p:nvPr/>
        </p:nvSpPr>
        <p:spPr>
          <a:xfrm xmlns:a="http://schemas.openxmlformats.org/drawingml/2006/main">
            <a:off x="8858250" y="4381500"/>
            <a:ext cx="2571750" cy="1047750"/>
          </a:xfrm>
          <a:prstGeom xmlns:a="http://schemas.openxmlformats.org/drawingml/2006/main" prst="roundRect">
            <a:avLst>
              <a:gd name="adj" fmla="val 16364"/>
            </a:avLst>
          </a:prstGeom>
          <a:solidFill xmlns:a="http://schemas.openxmlformats.org/drawingml/2006/main">
            <a:srgbClr val="0A2C25"/>
          </a:solidFill>
          <a:ln xmlns:a="http://schemas.openxmlformats.org/drawingml/2006/main" w="19050">
            <a:solidFill>
              <a:srgbClr val="D5A63A"/>
            </a:solidFill>
            <a:prstDash val="solid"/>
          </a:ln>
        </p:spPr>
      </p:sp>
      <p:sp>
        <p:nvSpPr>
          <p:cNvPr id="16" name="">
            <a:extLst xmlns:a="http://schemas.openxmlformats.org/drawingml/2006/main">
              <a:ext uri="{FF2B5EF4-FFF2-40B4-BE49-F238E27FC236}">
                <a16:creationId xmlns:a16="http://schemas.microsoft.com/office/drawing/2014/main" id="{A8BCFD3D-BCE6-4EE1-84E6-7A9B28BCE108}"/>
              </a:ext>
            </a:extLst>
          </p:cNvPr>
          <p:cNvSpPr>
            <a:spLocks xmlns:a="http://schemas.openxmlformats.org/drawingml/2006/main" noGrp="1"/>
          </p:cNvSpPr>
          <p:nvPr/>
        </p:nvSpPr>
        <p:spPr>
          <a:xfrm xmlns:a="http://schemas.openxmlformats.org/drawingml/2006/main">
            <a:off x="9048750" y="4667250"/>
            <a:ext cx="2190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Wall television</a:t>
            </a:r>
          </a:p>
        </p:txBody>
      </p:sp>
      <p:sp>
        <p:nvSpPr>
          <p:cNvPr id="18" name="">
            <a:extLst xmlns:a="http://schemas.openxmlformats.org/drawingml/2006/main">
              <a:ext uri="{FF2B5EF4-FFF2-40B4-BE49-F238E27FC236}">
                <a16:creationId xmlns:a16="http://schemas.microsoft.com/office/drawing/2014/main" id="{99704223-41E6-4A5F-8EE8-E6FD38FD8138}"/>
              </a:ext>
            </a:extLst>
          </p:cNvPr>
          <p:cNvSpPr>
            <a:spLocks xmlns:a="http://schemas.openxmlformats.org/drawingml/2006/main" noGrp="1"/>
          </p:cNvSpPr>
          <p:nvPr/>
        </p:nvSpPr>
        <p:spPr>
          <a:xfrm xmlns:a="http://schemas.openxmlformats.org/drawingml/2006/main">
            <a:off x="4438650" y="46101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650" b="1">
                <a:solidFill>
                  <a:srgbClr val="123D32"/>
                </a:solidFill>
                <a:latin typeface="Arial"/>
                <a:ea typeface="Arial"/>
                <a:cs typeface="Arial"/>
              </a:defRPr>
            </a:defPPr>
          </a:lstStyle>
          <a:p xmlns:a="http://schemas.openxmlformats.org/drawingml/2006/main">
            <a:pPr algn="ctr">
              <a:defRPr sz="1650" b="1">
                <a:solidFill>
                  <a:srgbClr val="123D32"/>
                </a:solidFill>
                <a:latin typeface="Arial"/>
                <a:ea typeface="Arial"/>
                <a:cs typeface="Arial"/>
              </a:defRPr>
            </a:pPr>
            <a:r>
              <a:rPr sz="1650" b="1">
                <a:solidFill>
                  <a:srgbClr val="123D32"/>
                </a:solidFill>
                <a:latin typeface="Arial"/>
                <a:ea typeface="Arial"/>
                <a:cs typeface="Arial"/>
              </a:rPr>
              <a:t>Windows for daily deployment</a:t>
            </a:r>
          </a:p>
        </p:txBody>
      </p:sp>
      <p:sp>
        <p:nvSpPr>
          <p:cNvPr id="19" name="">
            <a:extLst xmlns:a="http://schemas.openxmlformats.org/drawingml/2006/main">
              <a:ext uri="{FF2B5EF4-FFF2-40B4-BE49-F238E27FC236}">
                <a16:creationId xmlns:a16="http://schemas.microsoft.com/office/drawing/2014/main" id="{769EFC78-BDC5-4C7E-909D-D2AE129F5BA9}"/>
              </a:ext>
            </a:extLst>
          </p:cNvPr>
          <p:cNvSpPr>
            <a:spLocks xmlns:a="http://schemas.openxmlformats.org/drawingml/2006/main" noGrp="1"/>
          </p:cNvSpPr>
          <p:nvPr/>
        </p:nvSpPr>
        <p:spPr>
          <a:xfrm xmlns:a="http://schemas.openxmlformats.org/drawingml/2006/main">
            <a:off x="3905250" y="5124450"/>
            <a:ext cx="438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425" b="0">
                <a:solidFill>
                  <a:srgbClr val="5C6A64"/>
                </a:solidFill>
                <a:latin typeface="Arial"/>
                <a:ea typeface="Arial"/>
                <a:cs typeface="Arial"/>
              </a:defRPr>
            </a:defPPr>
          </a:lstStyle>
          <a:p xmlns:a="http://schemas.openxmlformats.org/drawingml/2006/main">
            <a:pPr algn="ctr">
              <a:defRPr sz="1425" b="0">
                <a:solidFill>
                  <a:srgbClr val="5C6A64"/>
                </a:solidFill>
                <a:latin typeface="Arial"/>
                <a:ea typeface="Arial"/>
                <a:cs typeface="Arial"/>
              </a:defRPr>
            </a:pPr>
            <a:r>
              <a:rPr sz="1425" b="0">
                <a:solidFill>
                  <a:srgbClr val="5C6A64"/>
                </a:solidFill>
                <a:latin typeface="Arial"/>
                <a:ea typeface="Arial"/>
                <a:cs typeface="Arial"/>
              </a:rPr>
              <a:t>Mac and Windows supported for development and demonstration</a:t>
            </a:r>
          </a:p>
        </p:txBody>
      </p:sp>
      <p:sp>
        <p:nvSpPr>
          <p:cNvPr id="20" name="">
            <a:extLst xmlns:a="http://schemas.openxmlformats.org/drawingml/2006/main">
              <a:ext uri="{FF2B5EF4-FFF2-40B4-BE49-F238E27FC236}">
                <a16:creationId xmlns:a16="http://schemas.microsoft.com/office/drawing/2014/main" id="{D663CD54-8DCE-4314-8BBC-71E0074F441F}"/>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Designed for the approved private LAN. Internet access is not required for normal daily use.</a:t>
            </a:r>
          </a:p>
        </p:txBody>
      </p:sp>
      <p:sp>
        <p:nvSpPr>
          <p:cNvPr id="21" name="">
            <a:extLst xmlns:a="http://schemas.openxmlformats.org/drawingml/2006/main">
              <a:ext uri="{FF2B5EF4-FFF2-40B4-BE49-F238E27FC236}">
                <a16:creationId xmlns:a16="http://schemas.microsoft.com/office/drawing/2014/main" id="{BA1C6C3A-2745-4364-9E9F-4E0C3277E83A}"/>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756803969"/>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2F6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8F5C002-2D82-4D44-8658-486654C2A588}"/>
              </a:ext>
            </a:extLst>
          </p:cNvPr>
          <p:cNvSpPr>
            <a:spLocks xmlns:a="http://schemas.openxmlformats.org/drawingml/2006/main" noGrp="1"/>
          </p:cNvSpPr>
          <p:nvPr/>
        </p:nvSpPr>
        <p:spPr>
          <a:xfrm xmlns:a="http://schemas.openxmlformats.org/drawingml/2006/main">
            <a:off x="666750" y="43815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000" b="1">
                <a:solidFill>
                  <a:srgbClr val="123D32"/>
                </a:solidFill>
                <a:latin typeface="Arial"/>
                <a:ea typeface="Arial"/>
                <a:cs typeface="Arial"/>
              </a:defRPr>
            </a:defPPr>
          </a:lstStyle>
          <a:p xmlns:a="http://schemas.openxmlformats.org/drawingml/2006/main">
            <a:pPr algn="l">
              <a:defRPr sz="3000" b="1">
                <a:solidFill>
                  <a:srgbClr val="123D32"/>
                </a:solidFill>
                <a:latin typeface="Arial"/>
                <a:ea typeface="Arial"/>
                <a:cs typeface="Arial"/>
              </a:defRPr>
            </a:pPr>
            <a:r>
              <a:rPr sz="3000" b="1">
                <a:solidFill>
                  <a:srgbClr val="123D32"/>
                </a:solidFill>
                <a:latin typeface="Arial"/>
                <a:ea typeface="Arial"/>
                <a:cs typeface="Arial"/>
              </a:rPr>
              <a:t>Operational safeguards</a:t>
            </a:r>
          </a:p>
        </p:txBody>
      </p:sp>
      <p:sp>
        <p:nvSpPr>
          <p:cNvPr id="2" name="">
            <a:extLst xmlns:a="http://schemas.openxmlformats.org/drawingml/2006/main">
              <a:ext uri="{FF2B5EF4-FFF2-40B4-BE49-F238E27FC236}">
                <a16:creationId xmlns:a16="http://schemas.microsoft.com/office/drawing/2014/main" id="{96106698-CA01-4D35-96EB-18B00595AC52}"/>
              </a:ext>
            </a:extLst>
          </p:cNvPr>
          <p:cNvSpPr>
            <a:spLocks xmlns:a="http://schemas.openxmlformats.org/drawingml/2006/main" noGrp="1"/>
          </p:cNvSpPr>
          <p:nvPr/>
        </p:nvSpPr>
        <p:spPr>
          <a:xfrm xmlns:a="http://schemas.openxmlformats.org/drawingml/2006/main">
            <a:off x="11049000" y="4762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r">
              <a:defRPr sz="1350" b="1">
                <a:solidFill>
                  <a:srgbClr val="1E5A49"/>
                </a:solidFill>
                <a:latin typeface="Arial"/>
                <a:ea typeface="Arial"/>
                <a:cs typeface="Arial"/>
              </a:defRPr>
            </a:defPPr>
          </a:lstStyle>
          <a:p xmlns:a="http://schemas.openxmlformats.org/drawingml/2006/main">
            <a:pPr algn="r">
              <a:defRPr sz="1350" b="1">
                <a:solidFill>
                  <a:srgbClr val="1E5A49"/>
                </a:solidFill>
                <a:latin typeface="Arial"/>
                <a:ea typeface="Arial"/>
                <a:cs typeface="Arial"/>
              </a:defRPr>
            </a:pPr>
            <a:r>
              <a:rPr sz="1350" b="1">
                <a:solidFill>
                  <a:srgbClr val="1E5A49"/>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290F9CC1-E61C-4E29-9779-54A23DF03ACC}"/>
              </a:ext>
            </a:extLst>
          </p:cNvPr>
          <p:cNvSpPr>
            <a:spLocks xmlns:a="http://schemas.openxmlformats.org/drawingml/2006/main" noGrp="1"/>
          </p:cNvSpPr>
          <p:nvPr/>
        </p:nvSpPr>
        <p:spPr>
          <a:xfrm xmlns:a="http://schemas.openxmlformats.org/drawingml/2006/main">
            <a:off x="704850" y="1409700"/>
            <a:ext cx="95250" cy="742950"/>
          </a:xfrm>
          <a:prstGeom xmlns:a="http://schemas.openxmlformats.org/drawingml/2006/main" prst="rect">
            <a:avLst/>
          </a:prstGeom>
          <a:solidFill xmlns:a="http://schemas.openxmlformats.org/drawingml/2006/main">
            <a:srgbClr val="123D3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36E0D9-956C-4398-B7B5-C6E0448AF33A}"/>
              </a:ext>
            </a:extLst>
          </p:cNvPr>
          <p:cNvSpPr>
            <a:spLocks xmlns:a="http://schemas.openxmlformats.org/drawingml/2006/main" noGrp="1"/>
          </p:cNvSpPr>
          <p:nvPr/>
        </p:nvSpPr>
        <p:spPr>
          <a:xfrm xmlns:a="http://schemas.openxmlformats.org/drawingml/2006/main">
            <a:off x="1123950" y="13906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100" b="1">
                <a:solidFill>
                  <a:srgbClr val="123D32"/>
                </a:solidFill>
                <a:latin typeface="Arial"/>
                <a:ea typeface="Arial"/>
                <a:cs typeface="Arial"/>
              </a:defRPr>
            </a:defPPr>
          </a:lstStyle>
          <a:p xmlns:a="http://schemas.openxmlformats.org/drawingml/2006/main">
            <a:pPr algn="l">
              <a:defRPr sz="2100" b="1">
                <a:solidFill>
                  <a:srgbClr val="123D32"/>
                </a:solidFill>
                <a:latin typeface="Arial"/>
                <a:ea typeface="Arial"/>
                <a:cs typeface="Arial"/>
              </a:defRPr>
            </a:pPr>
            <a:r>
              <a:rPr sz="2100" b="1">
                <a:solidFill>
                  <a:srgbClr val="123D32"/>
                </a:solidFill>
                <a:latin typeface="Arial"/>
                <a:ea typeface="Arial"/>
                <a:cs typeface="Arial"/>
              </a:rPr>
              <a:t>Controlled access</a:t>
            </a:r>
          </a:p>
        </p:txBody>
      </p:sp>
      <p:sp>
        <p:nvSpPr>
          <p:cNvPr id="5" name="">
            <a:extLst xmlns:a="http://schemas.openxmlformats.org/drawingml/2006/main">
              <a:ext uri="{FF2B5EF4-FFF2-40B4-BE49-F238E27FC236}">
                <a16:creationId xmlns:a16="http://schemas.microsoft.com/office/drawing/2014/main" id="{C34E4FB4-9B68-463F-9E4E-931AFA7F702A}"/>
              </a:ext>
            </a:extLst>
          </p:cNvPr>
          <p:cNvSpPr>
            <a:spLocks xmlns:a="http://schemas.openxmlformats.org/drawingml/2006/main" noGrp="1"/>
          </p:cNvSpPr>
          <p:nvPr/>
        </p:nvSpPr>
        <p:spPr>
          <a:xfrm xmlns:a="http://schemas.openxmlformats.org/drawingml/2006/main">
            <a:off x="4267200" y="139065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Separate roles for reception, doctor, OT control, display and administration</a:t>
            </a:r>
          </a:p>
        </p:txBody>
      </p:sp>
      <p:sp>
        <p:nvSpPr>
          <p:cNvPr id="6" name="">
            <a:extLst xmlns:a="http://schemas.openxmlformats.org/drawingml/2006/main">
              <a:ext uri="{FF2B5EF4-FFF2-40B4-BE49-F238E27FC236}">
                <a16:creationId xmlns:a16="http://schemas.microsoft.com/office/drawing/2014/main" id="{C2258FFE-62D8-4E37-86FC-AA25983ABA6D}"/>
              </a:ext>
            </a:extLst>
          </p:cNvPr>
          <p:cNvSpPr>
            <a:spLocks xmlns:a="http://schemas.openxmlformats.org/drawingml/2006/main" noGrp="1"/>
          </p:cNvSpPr>
          <p:nvPr/>
        </p:nvSpPr>
        <p:spPr>
          <a:xfrm xmlns:a="http://schemas.openxmlformats.org/drawingml/2006/main">
            <a:off x="704850" y="2571750"/>
            <a:ext cx="95250" cy="742950"/>
          </a:xfrm>
          <a:prstGeom xmlns:a="http://schemas.openxmlformats.org/drawingml/2006/main" prst="rect">
            <a:avLst/>
          </a:prstGeom>
          <a:solidFill xmlns:a="http://schemas.openxmlformats.org/drawingml/2006/main">
            <a:srgbClr val="123D3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D9660F1-F46D-4DD9-AE76-7185B7926112}"/>
              </a:ext>
            </a:extLst>
          </p:cNvPr>
          <p:cNvSpPr>
            <a:spLocks xmlns:a="http://schemas.openxmlformats.org/drawingml/2006/main" noGrp="1"/>
          </p:cNvSpPr>
          <p:nvPr/>
        </p:nvSpPr>
        <p:spPr>
          <a:xfrm xmlns:a="http://schemas.openxmlformats.org/drawingml/2006/main">
            <a:off x="1123950" y="25527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100" b="1">
                <a:solidFill>
                  <a:srgbClr val="123D32"/>
                </a:solidFill>
                <a:latin typeface="Arial"/>
                <a:ea typeface="Arial"/>
                <a:cs typeface="Arial"/>
              </a:defRPr>
            </a:defPPr>
          </a:lstStyle>
          <a:p xmlns:a="http://schemas.openxmlformats.org/drawingml/2006/main">
            <a:pPr algn="l">
              <a:defRPr sz="2100" b="1">
                <a:solidFill>
                  <a:srgbClr val="123D32"/>
                </a:solidFill>
                <a:latin typeface="Arial"/>
                <a:ea typeface="Arial"/>
                <a:cs typeface="Arial"/>
              </a:defRPr>
            </a:pPr>
            <a:r>
              <a:rPr sz="2100" b="1">
                <a:solidFill>
                  <a:srgbClr val="123D32"/>
                </a:solidFill>
                <a:latin typeface="Arial"/>
                <a:ea typeface="Arial"/>
                <a:cs typeface="Arial"/>
              </a:rPr>
              <a:t>Traceable changes</a:t>
            </a:r>
          </a:p>
        </p:txBody>
      </p:sp>
      <p:sp>
        <p:nvSpPr>
          <p:cNvPr id="8" name="">
            <a:extLst xmlns:a="http://schemas.openxmlformats.org/drawingml/2006/main">
              <a:ext uri="{FF2B5EF4-FFF2-40B4-BE49-F238E27FC236}">
                <a16:creationId xmlns:a16="http://schemas.microsoft.com/office/drawing/2014/main" id="{420F5708-F7CF-40CF-AB10-C8E4DF0B6D77}"/>
              </a:ext>
            </a:extLst>
          </p:cNvPr>
          <p:cNvSpPr>
            <a:spLocks xmlns:a="http://schemas.openxmlformats.org/drawingml/2006/main" noGrp="1"/>
          </p:cNvSpPr>
          <p:nvPr/>
        </p:nvSpPr>
        <p:spPr>
          <a:xfrm xmlns:a="http://schemas.openxmlformats.org/drawingml/2006/main">
            <a:off x="4267200" y="255270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Audit records preserve who changed important information and when</a:t>
            </a:r>
          </a:p>
        </p:txBody>
      </p:sp>
      <p:sp>
        <p:nvSpPr>
          <p:cNvPr id="9" name="">
            <a:extLst xmlns:a="http://schemas.openxmlformats.org/drawingml/2006/main">
              <a:ext uri="{FF2B5EF4-FFF2-40B4-BE49-F238E27FC236}">
                <a16:creationId xmlns:a16="http://schemas.microsoft.com/office/drawing/2014/main" id="{D61A47FF-742D-4087-BB2A-19C8F6F6D12A}"/>
              </a:ext>
            </a:extLst>
          </p:cNvPr>
          <p:cNvSpPr>
            <a:spLocks xmlns:a="http://schemas.openxmlformats.org/drawingml/2006/main" noGrp="1"/>
          </p:cNvSpPr>
          <p:nvPr/>
        </p:nvSpPr>
        <p:spPr>
          <a:xfrm xmlns:a="http://schemas.openxmlformats.org/drawingml/2006/main">
            <a:off x="704850" y="3733800"/>
            <a:ext cx="95250" cy="742950"/>
          </a:xfrm>
          <a:prstGeom xmlns:a="http://schemas.openxmlformats.org/drawingml/2006/main" prst="rect">
            <a:avLst/>
          </a:prstGeom>
          <a:solidFill xmlns:a="http://schemas.openxmlformats.org/drawingml/2006/main">
            <a:srgbClr val="123D3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0EB8786-4C48-458A-97FB-272D2E5AB288}"/>
              </a:ext>
            </a:extLst>
          </p:cNvPr>
          <p:cNvSpPr>
            <a:spLocks xmlns:a="http://schemas.openxmlformats.org/drawingml/2006/main" noGrp="1"/>
          </p:cNvSpPr>
          <p:nvPr/>
        </p:nvSpPr>
        <p:spPr>
          <a:xfrm xmlns:a="http://schemas.openxmlformats.org/drawingml/2006/main">
            <a:off x="1123950" y="3714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100" b="1">
                <a:solidFill>
                  <a:srgbClr val="123D32"/>
                </a:solidFill>
                <a:latin typeface="Arial"/>
                <a:ea typeface="Arial"/>
                <a:cs typeface="Arial"/>
              </a:defRPr>
            </a:defPPr>
          </a:lstStyle>
          <a:p xmlns:a="http://schemas.openxmlformats.org/drawingml/2006/main">
            <a:pPr algn="l">
              <a:defRPr sz="2100" b="1">
                <a:solidFill>
                  <a:srgbClr val="123D32"/>
                </a:solidFill>
                <a:latin typeface="Arial"/>
                <a:ea typeface="Arial"/>
                <a:cs typeface="Arial"/>
              </a:defRPr>
            </a:pPr>
            <a:r>
              <a:rPr sz="2100" b="1">
                <a:solidFill>
                  <a:srgbClr val="123D32"/>
                </a:solidFill>
                <a:latin typeface="Arial"/>
                <a:ea typeface="Arial"/>
                <a:cs typeface="Arial"/>
              </a:rPr>
              <a:t>Printing continuity</a:t>
            </a:r>
          </a:p>
        </p:txBody>
      </p:sp>
      <p:sp>
        <p:nvSpPr>
          <p:cNvPr id="11" name="">
            <a:extLst xmlns:a="http://schemas.openxmlformats.org/drawingml/2006/main">
              <a:ext uri="{FF2B5EF4-FFF2-40B4-BE49-F238E27FC236}">
                <a16:creationId xmlns:a16="http://schemas.microsoft.com/office/drawing/2014/main" id="{287A3C28-DC7F-49DB-8466-07069E7D4AD3}"/>
              </a:ext>
            </a:extLst>
          </p:cNvPr>
          <p:cNvSpPr>
            <a:spLocks xmlns:a="http://schemas.openxmlformats.org/drawingml/2006/main" noGrp="1"/>
          </p:cNvSpPr>
          <p:nvPr/>
        </p:nvSpPr>
        <p:spPr>
          <a:xfrm xmlns:a="http://schemas.openxmlformats.org/drawingml/2006/main">
            <a:off x="4267200" y="371475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A printer problem never removes the patient record. Staff can reprint later</a:t>
            </a:r>
          </a:p>
        </p:txBody>
      </p:sp>
      <p:sp>
        <p:nvSpPr>
          <p:cNvPr id="12" name="">
            <a:extLst xmlns:a="http://schemas.openxmlformats.org/drawingml/2006/main">
              <a:ext uri="{FF2B5EF4-FFF2-40B4-BE49-F238E27FC236}">
                <a16:creationId xmlns:a16="http://schemas.microsoft.com/office/drawing/2014/main" id="{A8371A64-853A-4E91-84D8-62B6F4E5F9DF}"/>
              </a:ext>
            </a:extLst>
          </p:cNvPr>
          <p:cNvSpPr>
            <a:spLocks xmlns:a="http://schemas.openxmlformats.org/drawingml/2006/main" noGrp="1"/>
          </p:cNvSpPr>
          <p:nvPr/>
        </p:nvSpPr>
        <p:spPr>
          <a:xfrm xmlns:a="http://schemas.openxmlformats.org/drawingml/2006/main">
            <a:off x="704850" y="4895850"/>
            <a:ext cx="95250" cy="742950"/>
          </a:xfrm>
          <a:prstGeom xmlns:a="http://schemas.openxmlformats.org/drawingml/2006/main" prst="rect">
            <a:avLst/>
          </a:prstGeom>
          <a:solidFill xmlns:a="http://schemas.openxmlformats.org/drawingml/2006/main">
            <a:srgbClr val="D5A63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DBEA1A7-DD35-4E3A-BD9E-B3CFD03D2421}"/>
              </a:ext>
            </a:extLst>
          </p:cNvPr>
          <p:cNvSpPr>
            <a:spLocks xmlns:a="http://schemas.openxmlformats.org/drawingml/2006/main" noGrp="1"/>
          </p:cNvSpPr>
          <p:nvPr/>
        </p:nvSpPr>
        <p:spPr>
          <a:xfrm xmlns:a="http://schemas.openxmlformats.org/drawingml/2006/main">
            <a:off x="1123950" y="48768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2100" b="1">
                <a:solidFill>
                  <a:srgbClr val="123D32"/>
                </a:solidFill>
                <a:latin typeface="Arial"/>
                <a:ea typeface="Arial"/>
                <a:cs typeface="Arial"/>
              </a:defRPr>
            </a:defPPr>
          </a:lstStyle>
          <a:p xmlns:a="http://schemas.openxmlformats.org/drawingml/2006/main">
            <a:pPr algn="l">
              <a:defRPr sz="2100" b="1">
                <a:solidFill>
                  <a:srgbClr val="123D32"/>
                </a:solidFill>
                <a:latin typeface="Arial"/>
                <a:ea typeface="Arial"/>
                <a:cs typeface="Arial"/>
              </a:defRPr>
            </a:pPr>
            <a:r>
              <a:rPr sz="2100" b="1">
                <a:solidFill>
                  <a:srgbClr val="123D32"/>
                </a:solidFill>
                <a:latin typeface="Arial"/>
                <a:ea typeface="Arial"/>
                <a:cs typeface="Arial"/>
              </a:rPr>
              <a:t>Data protection</a:t>
            </a:r>
          </a:p>
        </p:txBody>
      </p:sp>
      <p:sp>
        <p:nvSpPr>
          <p:cNvPr id="14" name="">
            <a:extLst xmlns:a="http://schemas.openxmlformats.org/drawingml/2006/main">
              <a:ext uri="{FF2B5EF4-FFF2-40B4-BE49-F238E27FC236}">
                <a16:creationId xmlns:a16="http://schemas.microsoft.com/office/drawing/2014/main" id="{B865FEA0-D1F5-42EF-927A-41488DBD0B70}"/>
              </a:ext>
            </a:extLst>
          </p:cNvPr>
          <p:cNvSpPr>
            <a:spLocks xmlns:a="http://schemas.openxmlformats.org/drawingml/2006/main" noGrp="1"/>
          </p:cNvSpPr>
          <p:nvPr/>
        </p:nvSpPr>
        <p:spPr>
          <a:xfrm xmlns:a="http://schemas.openxmlformats.org/drawingml/2006/main">
            <a:off x="4267200" y="487680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16211D"/>
                </a:solidFill>
                <a:latin typeface="Arial"/>
                <a:ea typeface="Arial"/>
                <a:cs typeface="Arial"/>
              </a:defRPr>
            </a:defPPr>
          </a:lstStyle>
          <a:p xmlns:a="http://schemas.openxmlformats.org/drawingml/2006/main">
            <a:pPr algn="l">
              <a:defRPr sz="1650" b="0">
                <a:solidFill>
                  <a:srgbClr val="16211D"/>
                </a:solidFill>
                <a:latin typeface="Arial"/>
                <a:ea typeface="Arial"/>
                <a:cs typeface="Arial"/>
              </a:defRPr>
            </a:pPr>
            <a:r>
              <a:rPr sz="1650" b="0">
                <a:solidFill>
                  <a:srgbClr val="16211D"/>
                </a:solidFill>
                <a:latin typeface="Arial"/>
                <a:ea typeface="Arial"/>
                <a:cs typeface="Arial"/>
              </a:rPr>
              <a:t>Local deployment, secure passwords and daily approved backups</a:t>
            </a:r>
          </a:p>
        </p:txBody>
      </p:sp>
      <p:sp>
        <p:nvSpPr>
          <p:cNvPr id="15" name="">
            <a:extLst xmlns:a="http://schemas.openxmlformats.org/drawingml/2006/main">
              <a:ext uri="{FF2B5EF4-FFF2-40B4-BE49-F238E27FC236}">
                <a16:creationId xmlns:a16="http://schemas.microsoft.com/office/drawing/2014/main" id="{0C5C1C01-0EC4-459F-BB43-922C8917E1C0}"/>
              </a:ext>
            </a:extLst>
          </p:cNvPr>
          <p:cNvSpPr>
            <a:spLocks xmlns:a="http://schemas.openxmlformats.org/drawingml/2006/main" noGrp="1"/>
          </p:cNvSpPr>
          <p:nvPr/>
        </p:nvSpPr>
        <p:spPr>
          <a:xfrm xmlns:a="http://schemas.openxmlformats.org/drawingml/2006/main">
            <a:off x="1190625" y="5953125"/>
            <a:ext cx="981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864"/>
          </a:bodyPr>
          <a:lstStyle xmlns:a="http://schemas.openxmlformats.org/drawingml/2006/main">
            <a:defPPr algn="ctr">
              <a:defRPr sz="1575" b="1">
                <a:solidFill>
                  <a:srgbClr val="0A2C25"/>
                </a:solidFill>
                <a:latin typeface="Arial"/>
                <a:ea typeface="Arial"/>
                <a:cs typeface="Arial"/>
              </a:defRPr>
            </a:defPPr>
          </a:lstStyle>
          <a:p xmlns:a="http://schemas.openxmlformats.org/drawingml/2006/main">
            <a:pPr algn="ctr">
              <a:defRPr sz="1575" b="1">
                <a:solidFill>
                  <a:srgbClr val="0A2C25"/>
                </a:solidFill>
                <a:latin typeface="Arial"/>
                <a:ea typeface="Arial"/>
                <a:cs typeface="Arial"/>
              </a:defRPr>
            </a:pPr>
            <a:r>
              <a:rPr sz="1575" b="1">
                <a:solidFill>
                  <a:srgbClr val="0A2C25"/>
                </a:solidFill>
                <a:latin typeface="Arial"/>
                <a:ea typeface="Arial"/>
                <a:cs typeface="Arial"/>
              </a:rPr>
              <a:t>Before production use: confirm the CMH network, backup location, user list and HTTPS policy with the IT head.</a:t>
            </a:r>
          </a:p>
        </p:txBody>
      </p:sp>
      <p:sp>
        <p:nvSpPr>
          <p:cNvPr id="16" name="">
            <a:extLst xmlns:a="http://schemas.openxmlformats.org/drawingml/2006/main">
              <a:ext uri="{FF2B5EF4-FFF2-40B4-BE49-F238E27FC236}">
                <a16:creationId xmlns:a16="http://schemas.microsoft.com/office/drawing/2014/main" id="{FF72AE13-A33B-4879-83B6-D09F289D885C}"/>
              </a:ext>
            </a:extLst>
          </p:cNvPr>
          <p:cNvSpPr>
            <a:spLocks xmlns:a="http://schemas.openxmlformats.org/drawingml/2006/main" noGrp="1"/>
          </p:cNvSpPr>
          <p:nvPr/>
        </p:nvSpPr>
        <p:spPr>
          <a:xfrm xmlns:a="http://schemas.openxmlformats.org/drawingml/2006/main">
            <a:off x="666750" y="6515100"/>
            <a:ext cx="9810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975" b="0">
                <a:solidFill>
                  <a:srgbClr val="5C6A64"/>
                </a:solidFill>
                <a:latin typeface="Arial"/>
                <a:ea typeface="Arial"/>
                <a:cs typeface="Arial"/>
              </a:defRPr>
            </a:defPPr>
          </a:lstStyle>
          <a:p xmlns:a="http://schemas.openxmlformats.org/drawingml/2006/main">
            <a:pPr algn="l">
              <a:defRPr sz="975" b="0">
                <a:solidFill>
                  <a:srgbClr val="5C6A64"/>
                </a:solidFill>
                <a:latin typeface="Arial"/>
                <a:ea typeface="Arial"/>
                <a:cs typeface="Arial"/>
              </a:defRPr>
            </a:pPr>
            <a:r>
              <a:rPr sz="975" b="0">
                <a:solidFill>
                  <a:srgbClr val="5C6A64"/>
                </a:solidFill>
                <a:latin typeface="Arial"/>
                <a:ea typeface="Arial"/>
                <a:cs typeface="Arial"/>
              </a:rPr>
              <a:t>Security controls require CMH IT approval and production configuration before launch.</a:t>
            </a:r>
          </a:p>
        </p:txBody>
      </p:sp>
      <p:sp>
        <p:nvSpPr>
          <p:cNvPr id="17" name="">
            <a:extLst xmlns:a="http://schemas.openxmlformats.org/drawingml/2006/main">
              <a:ext uri="{FF2B5EF4-FFF2-40B4-BE49-F238E27FC236}">
                <a16:creationId xmlns:a16="http://schemas.microsoft.com/office/drawing/2014/main" id="{98F079F1-CCDA-4DC0-98E7-B239980A0460}"/>
              </a:ext>
            </a:extLst>
          </p:cNvPr>
          <p:cNvSpPr>
            <a:spLocks xmlns:a="http://schemas.openxmlformats.org/drawingml/2006/main" noGrp="1"/>
          </p:cNvSpPr>
          <p:nvPr/>
        </p:nvSpPr>
        <p:spPr>
          <a:xfrm xmlns:a="http://schemas.openxmlformats.org/drawingml/2006/main">
            <a:off x="10715625" y="6572250"/>
            <a:ext cx="809625" cy="38100"/>
          </a:xfrm>
          <a:prstGeom xmlns:a="http://schemas.openxmlformats.org/drawingml/2006/main" prst="rect">
            <a:avLst/>
          </a:prstGeom>
          <a:solidFill xmlns:a="http://schemas.openxmlformats.org/drawingml/2006/main">
            <a:srgbClr val="D5A63A"/>
          </a:solidFill>
          <a:ln xmlns:a="http://schemas.openxmlformats.org/drawingml/2006/main" w="0">
            <a:noFill/>
          </a:ln>
        </p:spPr>
      </p:sp>
    </p:spTree>
    <p:extLst>
      <p:ext uri="{BB962C8B-B14F-4D97-AF65-F5344CB8AC3E}">
        <p14:creationId xmlns:p14="http://schemas.microsoft.com/office/powerpoint/2010/main" val="2072649758"/>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0A2C2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453E3E-201A-45B8-BA93-2852CEFFF3F8}"/>
              </a:ext>
            </a:extLst>
          </p:cNvPr>
          <p:cNvSpPr>
            <a:spLocks xmlns:a="http://schemas.openxmlformats.org/drawingml/2006/main" noGrp="1"/>
          </p:cNvSpPr>
          <p:nvPr/>
        </p:nvSpPr>
        <p:spPr>
          <a:xfrm xmlns:a="http://schemas.openxmlformats.org/drawingml/2006/main">
            <a:off x="762000" y="66675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1">
                <a:solidFill>
                  <a:srgbClr val="D5A63A"/>
                </a:solidFill>
                <a:latin typeface="Arial"/>
                <a:ea typeface="Arial"/>
                <a:cs typeface="Arial"/>
              </a:defRPr>
            </a:defPPr>
          </a:lstStyle>
          <a:p xmlns:a="http://schemas.openxmlformats.org/drawingml/2006/main">
            <a:pPr algn="l">
              <a:defRPr sz="1350" b="1">
                <a:solidFill>
                  <a:srgbClr val="D5A63A"/>
                </a:solidFill>
                <a:latin typeface="Arial"/>
                <a:ea typeface="Arial"/>
                <a:cs typeface="Arial"/>
              </a:defRPr>
            </a:pPr>
            <a:r>
              <a:rPr sz="1350" b="1">
                <a:solidFill>
                  <a:srgbClr val="D5A63A"/>
                </a:solidFill>
                <a:latin typeface="Arial"/>
                <a:ea typeface="Arial"/>
                <a:cs typeface="Arial"/>
              </a:rPr>
              <a:t>PROPOSED NEXT STEP</a:t>
            </a:r>
          </a:p>
        </p:txBody>
      </p:sp>
      <p:sp>
        <p:nvSpPr>
          <p:cNvPr id="2" name="">
            <a:extLst xmlns:a="http://schemas.openxmlformats.org/drawingml/2006/main">
              <a:ext uri="{FF2B5EF4-FFF2-40B4-BE49-F238E27FC236}">
                <a16:creationId xmlns:a16="http://schemas.microsoft.com/office/drawing/2014/main" id="{39AC92BC-1897-4AD4-8470-F60A62E5B79C}"/>
              </a:ext>
            </a:extLst>
          </p:cNvPr>
          <p:cNvSpPr>
            <a:spLocks xmlns:a="http://schemas.openxmlformats.org/drawingml/2006/main" noGrp="1"/>
          </p:cNvSpPr>
          <p:nvPr/>
        </p:nvSpPr>
        <p:spPr>
          <a:xfrm xmlns:a="http://schemas.openxmlformats.org/drawingml/2006/main">
            <a:off x="762000" y="1257300"/>
            <a:ext cx="7239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Arial"/>
                <a:ea typeface="Arial"/>
                <a:cs typeface="Arial"/>
              </a:defRPr>
            </a:def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Approve a controlled departmental pilot</a:t>
            </a:r>
          </a:p>
        </p:txBody>
      </p:sp>
      <p:sp>
        <p:nvSpPr>
          <p:cNvPr id="3" name="">
            <a:extLst xmlns:a="http://schemas.openxmlformats.org/drawingml/2006/main">
              <a:ext uri="{FF2B5EF4-FFF2-40B4-BE49-F238E27FC236}">
                <a16:creationId xmlns:a16="http://schemas.microsoft.com/office/drawing/2014/main" id="{E9BBCE08-7E98-4368-B5EB-499152237485}"/>
              </a:ext>
            </a:extLst>
          </p:cNvPr>
          <p:cNvSpPr>
            <a:spLocks xmlns:a="http://schemas.openxmlformats.org/drawingml/2006/main" noGrp="1"/>
          </p:cNvSpPr>
          <p:nvPr/>
        </p:nvSpPr>
        <p:spPr>
          <a:xfrm xmlns:a="http://schemas.openxmlformats.org/drawingml/2006/main">
            <a:off x="762000" y="2628900"/>
            <a:ext cx="685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950" b="0">
                <a:solidFill>
                  <a:srgbClr val="DCEAE4"/>
                </a:solidFill>
                <a:latin typeface="Arial"/>
                <a:ea typeface="Arial"/>
                <a:cs typeface="Arial"/>
              </a:defRPr>
            </a:defPPr>
          </a:lstStyle>
          <a:p xmlns:a="http://schemas.openxmlformats.org/drawingml/2006/main">
            <a:pPr algn="l">
              <a:defRPr sz="1950" b="0">
                <a:solidFill>
                  <a:srgbClr val="DCEAE4"/>
                </a:solidFill>
                <a:latin typeface="Arial"/>
                <a:ea typeface="Arial"/>
                <a:cs typeface="Arial"/>
              </a:defRPr>
            </a:pPr>
            <a:r>
              <a:rPr sz="1950" b="0">
                <a:solidFill>
                  <a:srgbClr val="DCEAE4"/>
                </a:solidFill>
                <a:latin typeface="Arial"/>
                <a:ea typeface="Arial"/>
                <a:cs typeface="Arial"/>
              </a:rPr>
              <a:t>The pilot can confirm the workflow with staff before any production rollout.</a:t>
            </a:r>
          </a:p>
        </p:txBody>
      </p:sp>
      <p:sp>
        <p:nvSpPr>
          <p:cNvPr id="4" name="">
            <a:extLst xmlns:a="http://schemas.openxmlformats.org/drawingml/2006/main">
              <a:ext uri="{FF2B5EF4-FFF2-40B4-BE49-F238E27FC236}">
                <a16:creationId xmlns:a16="http://schemas.microsoft.com/office/drawing/2014/main" id="{AE25EA66-F0C7-46E3-9115-B67F24A3A8FD}"/>
              </a:ext>
            </a:extLst>
          </p:cNvPr>
          <p:cNvSpPr>
            <a:spLocks xmlns:a="http://schemas.openxmlformats.org/drawingml/2006/main" noGrp="1"/>
          </p:cNvSpPr>
          <p:nvPr/>
        </p:nvSpPr>
        <p:spPr>
          <a:xfrm xmlns:a="http://schemas.openxmlformats.org/drawingml/2006/main">
            <a:off x="838200" y="3714750"/>
            <a:ext cx="323850" cy="323850"/>
          </a:xfrm>
          <a:prstGeom xmlns:a="http://schemas.openxmlformats.org/drawingml/2006/main" prst="roundRect">
            <a:avLst>
              <a:gd name="adj" fmla="val 50000"/>
            </a:avLst>
          </a:prstGeom>
          <a:solidFill xmlns:a="http://schemas.openxmlformats.org/drawingml/2006/main">
            <a:srgbClr val="D5A6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A2C25"/>
                </a:solidFill>
                <a:latin typeface="Arial"/>
                <a:ea typeface="Arial"/>
                <a:cs typeface="Arial"/>
              </a:defRPr>
            </a:defPPr>
          </a:lstStyle>
          <a:p xmlns:a="http://schemas.openxmlformats.org/drawingml/2006/main">
            <a:pPr algn="ctr">
              <a:defRPr sz="1350" b="1">
                <a:solidFill>
                  <a:srgbClr val="0A2C25"/>
                </a:solidFill>
                <a:latin typeface="Arial"/>
                <a:ea typeface="Arial"/>
                <a:cs typeface="Arial"/>
              </a:defRPr>
            </a:pPr>
            <a:r>
              <a:rPr sz="1350" b="1">
                <a:solidFill>
                  <a:srgbClr val="0A2C25"/>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7988E66A-C156-45CC-A1C3-1B0E9438C60D}"/>
              </a:ext>
            </a:extLst>
          </p:cNvPr>
          <p:cNvSpPr>
            <a:spLocks xmlns:a="http://schemas.openxmlformats.org/drawingml/2006/main" noGrp="1"/>
          </p:cNvSpPr>
          <p:nvPr/>
        </p:nvSpPr>
        <p:spPr>
          <a:xfrm xmlns:a="http://schemas.openxmlformats.org/drawingml/2006/main">
            <a:off x="1390650" y="370522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FFFFFF"/>
                </a:solidFill>
                <a:latin typeface="Arial"/>
                <a:ea typeface="Arial"/>
                <a:cs typeface="Arial"/>
              </a:defRPr>
            </a:def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Nominate the reception, doctor and OT representatives</a:t>
            </a:r>
          </a:p>
        </p:txBody>
      </p:sp>
      <p:sp>
        <p:nvSpPr>
          <p:cNvPr id="6" name="">
            <a:extLst xmlns:a="http://schemas.openxmlformats.org/drawingml/2006/main">
              <a:ext uri="{FF2B5EF4-FFF2-40B4-BE49-F238E27FC236}">
                <a16:creationId xmlns:a16="http://schemas.microsoft.com/office/drawing/2014/main" id="{C2181FB1-E18D-4672-BA52-FC0D7ABB9195}"/>
              </a:ext>
            </a:extLst>
          </p:cNvPr>
          <p:cNvSpPr>
            <a:spLocks xmlns:a="http://schemas.openxmlformats.org/drawingml/2006/main" noGrp="1"/>
          </p:cNvSpPr>
          <p:nvPr/>
        </p:nvSpPr>
        <p:spPr>
          <a:xfrm xmlns:a="http://schemas.openxmlformats.org/drawingml/2006/main">
            <a:off x="838200" y="4305300"/>
            <a:ext cx="323850" cy="323850"/>
          </a:xfrm>
          <a:prstGeom xmlns:a="http://schemas.openxmlformats.org/drawingml/2006/main" prst="roundRect">
            <a:avLst>
              <a:gd name="adj" fmla="val 50000"/>
            </a:avLst>
          </a:prstGeom>
          <a:solidFill xmlns:a="http://schemas.openxmlformats.org/drawingml/2006/main">
            <a:srgbClr val="D5A6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A2C25"/>
                </a:solidFill>
                <a:latin typeface="Arial"/>
                <a:ea typeface="Arial"/>
                <a:cs typeface="Arial"/>
              </a:defRPr>
            </a:defPPr>
          </a:lstStyle>
          <a:p xmlns:a="http://schemas.openxmlformats.org/drawingml/2006/main">
            <a:pPr algn="ctr">
              <a:defRPr sz="1350" b="1">
                <a:solidFill>
                  <a:srgbClr val="0A2C25"/>
                </a:solidFill>
                <a:latin typeface="Arial"/>
                <a:ea typeface="Arial"/>
                <a:cs typeface="Arial"/>
              </a:defRPr>
            </a:pPr>
            <a:r>
              <a:rPr sz="1350" b="1">
                <a:solidFill>
                  <a:srgbClr val="0A2C25"/>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35F0EEB1-C2CD-42AE-89D2-9C70D126265C}"/>
              </a:ext>
            </a:extLst>
          </p:cNvPr>
          <p:cNvSpPr>
            <a:spLocks xmlns:a="http://schemas.openxmlformats.org/drawingml/2006/main" noGrp="1"/>
          </p:cNvSpPr>
          <p:nvPr/>
        </p:nvSpPr>
        <p:spPr>
          <a:xfrm xmlns:a="http://schemas.openxmlformats.org/drawingml/2006/main">
            <a:off x="1390650" y="429577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FFFFFF"/>
                </a:solidFill>
                <a:latin typeface="Arial"/>
                <a:ea typeface="Arial"/>
                <a:cs typeface="Arial"/>
              </a:defRPr>
            </a:def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Confirm the private network and Windows server location</a:t>
            </a:r>
          </a:p>
        </p:txBody>
      </p:sp>
      <p:sp>
        <p:nvSpPr>
          <p:cNvPr id="8" name="">
            <a:extLst xmlns:a="http://schemas.openxmlformats.org/drawingml/2006/main">
              <a:ext uri="{FF2B5EF4-FFF2-40B4-BE49-F238E27FC236}">
                <a16:creationId xmlns:a16="http://schemas.microsoft.com/office/drawing/2014/main" id="{67260172-F500-4D24-87C3-17839E6F26B3}"/>
              </a:ext>
            </a:extLst>
          </p:cNvPr>
          <p:cNvSpPr>
            <a:spLocks xmlns:a="http://schemas.openxmlformats.org/drawingml/2006/main" noGrp="1"/>
          </p:cNvSpPr>
          <p:nvPr/>
        </p:nvSpPr>
        <p:spPr>
          <a:xfrm xmlns:a="http://schemas.openxmlformats.org/drawingml/2006/main">
            <a:off x="838200" y="4895850"/>
            <a:ext cx="323850" cy="323850"/>
          </a:xfrm>
          <a:prstGeom xmlns:a="http://schemas.openxmlformats.org/drawingml/2006/main" prst="roundRect">
            <a:avLst>
              <a:gd name="adj" fmla="val 50000"/>
            </a:avLst>
          </a:prstGeom>
          <a:solidFill xmlns:a="http://schemas.openxmlformats.org/drawingml/2006/main">
            <a:srgbClr val="D5A6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A2C25"/>
                </a:solidFill>
                <a:latin typeface="Arial"/>
                <a:ea typeface="Arial"/>
                <a:cs typeface="Arial"/>
              </a:defRPr>
            </a:defPPr>
          </a:lstStyle>
          <a:p xmlns:a="http://schemas.openxmlformats.org/drawingml/2006/main">
            <a:pPr algn="ctr">
              <a:defRPr sz="1350" b="1">
                <a:solidFill>
                  <a:srgbClr val="0A2C25"/>
                </a:solidFill>
                <a:latin typeface="Arial"/>
                <a:ea typeface="Arial"/>
                <a:cs typeface="Arial"/>
              </a:defRPr>
            </a:pPr>
            <a:r>
              <a:rPr sz="1350" b="1">
                <a:solidFill>
                  <a:srgbClr val="0A2C25"/>
                </a:solidFill>
                <a:latin typeface="Arial"/>
                <a:ea typeface="Arial"/>
                <a:cs typeface="Arial"/>
              </a:rPr>
              <a:t>3</a:t>
            </a:r>
          </a:p>
        </p:txBody>
      </p:sp>
      <p:sp>
        <p:nvSpPr>
          <p:cNvPr id="9" name="">
            <a:extLst xmlns:a="http://schemas.openxmlformats.org/drawingml/2006/main">
              <a:ext uri="{FF2B5EF4-FFF2-40B4-BE49-F238E27FC236}">
                <a16:creationId xmlns:a16="http://schemas.microsoft.com/office/drawing/2014/main" id="{499E4BDE-644D-480E-B37D-949E46893D80}"/>
              </a:ext>
            </a:extLst>
          </p:cNvPr>
          <p:cNvSpPr>
            <a:spLocks xmlns:a="http://schemas.openxmlformats.org/drawingml/2006/main" noGrp="1"/>
          </p:cNvSpPr>
          <p:nvPr/>
        </p:nvSpPr>
        <p:spPr>
          <a:xfrm xmlns:a="http://schemas.openxmlformats.org/drawingml/2006/main">
            <a:off x="1390650" y="488632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FFFFFF"/>
                </a:solidFill>
                <a:latin typeface="Arial"/>
                <a:ea typeface="Arial"/>
                <a:cs typeface="Arial"/>
              </a:defRPr>
            </a:def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Select the token printer, paper size and A4 printer queues</a:t>
            </a:r>
          </a:p>
        </p:txBody>
      </p:sp>
      <p:sp>
        <p:nvSpPr>
          <p:cNvPr id="10" name="">
            <a:extLst xmlns:a="http://schemas.openxmlformats.org/drawingml/2006/main">
              <a:ext uri="{FF2B5EF4-FFF2-40B4-BE49-F238E27FC236}">
                <a16:creationId xmlns:a16="http://schemas.microsoft.com/office/drawing/2014/main" id="{A63892FF-361F-47C7-8C67-20372264B2B7}"/>
              </a:ext>
            </a:extLst>
          </p:cNvPr>
          <p:cNvSpPr>
            <a:spLocks xmlns:a="http://schemas.openxmlformats.org/drawingml/2006/main" noGrp="1"/>
          </p:cNvSpPr>
          <p:nvPr/>
        </p:nvSpPr>
        <p:spPr>
          <a:xfrm xmlns:a="http://schemas.openxmlformats.org/drawingml/2006/main">
            <a:off x="838200" y="5486400"/>
            <a:ext cx="323850" cy="323850"/>
          </a:xfrm>
          <a:prstGeom xmlns:a="http://schemas.openxmlformats.org/drawingml/2006/main" prst="roundRect">
            <a:avLst>
              <a:gd name="adj" fmla="val 50000"/>
            </a:avLst>
          </a:prstGeom>
          <a:solidFill xmlns:a="http://schemas.openxmlformats.org/drawingml/2006/main">
            <a:srgbClr val="D5A63A"/>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0A2C25"/>
                </a:solidFill>
                <a:latin typeface="Arial"/>
                <a:ea typeface="Arial"/>
                <a:cs typeface="Arial"/>
              </a:defRPr>
            </a:defPPr>
          </a:lstStyle>
          <a:p xmlns:a="http://schemas.openxmlformats.org/drawingml/2006/main">
            <a:pPr algn="ctr">
              <a:defRPr sz="1350" b="1">
                <a:solidFill>
                  <a:srgbClr val="0A2C25"/>
                </a:solidFill>
                <a:latin typeface="Arial"/>
                <a:ea typeface="Arial"/>
                <a:cs typeface="Arial"/>
              </a:defRPr>
            </a:pPr>
            <a:r>
              <a:rPr sz="1350" b="1">
                <a:solidFill>
                  <a:srgbClr val="0A2C25"/>
                </a:solidFill>
                <a:latin typeface="Arial"/>
                <a:ea typeface="Arial"/>
                <a:cs typeface="Arial"/>
              </a:rPr>
              <a:t>4</a:t>
            </a:r>
          </a:p>
        </p:txBody>
      </p:sp>
      <p:sp>
        <p:nvSpPr>
          <p:cNvPr id="11" name="">
            <a:extLst xmlns:a="http://schemas.openxmlformats.org/drawingml/2006/main">
              <a:ext uri="{FF2B5EF4-FFF2-40B4-BE49-F238E27FC236}">
                <a16:creationId xmlns:a16="http://schemas.microsoft.com/office/drawing/2014/main" id="{DA4E900B-3F37-4D9C-9B47-1A5E6C927D51}"/>
              </a:ext>
            </a:extLst>
          </p:cNvPr>
          <p:cNvSpPr>
            <a:spLocks xmlns:a="http://schemas.openxmlformats.org/drawingml/2006/main" noGrp="1"/>
          </p:cNvSpPr>
          <p:nvPr/>
        </p:nvSpPr>
        <p:spPr>
          <a:xfrm xmlns:a="http://schemas.openxmlformats.org/drawingml/2006/main">
            <a:off x="1390650" y="5476875"/>
            <a:ext cx="752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650" b="0">
                <a:solidFill>
                  <a:srgbClr val="FFFFFF"/>
                </a:solidFill>
                <a:latin typeface="Arial"/>
                <a:ea typeface="Arial"/>
                <a:cs typeface="Arial"/>
              </a:defRPr>
            </a:def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Test with demonstration records before live patient use</a:t>
            </a:r>
          </a:p>
        </p:txBody>
      </p:sp>
      <p:sp>
        <p:nvSpPr>
          <p:cNvPr id="12" name="">
            <a:extLst xmlns:a="http://schemas.openxmlformats.org/drawingml/2006/main">
              <a:ext uri="{FF2B5EF4-FFF2-40B4-BE49-F238E27FC236}">
                <a16:creationId xmlns:a16="http://schemas.microsoft.com/office/drawing/2014/main" id="{70B4F3FF-14F2-4235-B0B9-A1236F89EC65}"/>
              </a:ext>
            </a:extLst>
          </p:cNvPr>
          <p:cNvSpPr>
            <a:spLocks xmlns:a="http://schemas.openxmlformats.org/drawingml/2006/main" noGrp="1"/>
          </p:cNvSpPr>
          <p:nvPr/>
        </p:nvSpPr>
        <p:spPr>
          <a:xfrm xmlns:a="http://schemas.openxmlformats.org/drawingml/2006/main">
            <a:off x="9258300" y="16764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350" b="1">
                <a:solidFill>
                  <a:srgbClr val="D5A63A"/>
                </a:solidFill>
                <a:latin typeface="Arial"/>
                <a:ea typeface="Arial"/>
                <a:cs typeface="Arial"/>
              </a:defRPr>
            </a:defPPr>
          </a:lstStyle>
          <a:p xmlns:a="http://schemas.openxmlformats.org/drawingml/2006/main">
            <a:pPr algn="ctr">
              <a:defRPr sz="1350" b="1">
                <a:solidFill>
                  <a:srgbClr val="D5A63A"/>
                </a:solidFill>
                <a:latin typeface="Arial"/>
                <a:ea typeface="Arial"/>
                <a:cs typeface="Arial"/>
              </a:defRPr>
            </a:pPr>
            <a:r>
              <a:rPr sz="1350" b="1">
                <a:solidFill>
                  <a:srgbClr val="D5A63A"/>
                </a:solidFill>
                <a:latin typeface="Arial"/>
                <a:ea typeface="Arial"/>
                <a:cs typeface="Arial"/>
              </a:rPr>
              <a:t>Decision requested</a:t>
            </a:r>
          </a:p>
        </p:txBody>
      </p:sp>
      <p:sp>
        <p:nvSpPr>
          <p:cNvPr id="13" name="">
            <a:extLst xmlns:a="http://schemas.openxmlformats.org/drawingml/2006/main">
              <a:ext uri="{FF2B5EF4-FFF2-40B4-BE49-F238E27FC236}">
                <a16:creationId xmlns:a16="http://schemas.microsoft.com/office/drawing/2014/main" id="{F8A4FBC5-76D6-4C77-9226-AEC30C13D2CE}"/>
              </a:ext>
            </a:extLst>
          </p:cNvPr>
          <p:cNvSpPr>
            <a:spLocks xmlns:a="http://schemas.openxmlformats.org/drawingml/2006/main" noGrp="1"/>
          </p:cNvSpPr>
          <p:nvPr/>
        </p:nvSpPr>
        <p:spPr>
          <a:xfrm xmlns:a="http://schemas.openxmlformats.org/drawingml/2006/main">
            <a:off x="9163050" y="2190750"/>
            <a:ext cx="238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2100" b="1">
                <a:solidFill>
                  <a:srgbClr val="FFFFFF"/>
                </a:solidFill>
                <a:latin typeface="Arial"/>
                <a:ea typeface="Arial"/>
                <a:cs typeface="Arial"/>
              </a:defRPr>
            </a:defPPr>
          </a:lstStyle>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Permission to run a staff-reviewed pilot using synthetic records</a:t>
            </a:r>
          </a:p>
        </p:txBody>
      </p:sp>
      <p:sp>
        <p:nvSpPr>
          <p:cNvPr id="14" name="">
            <a:extLst xmlns:a="http://schemas.openxmlformats.org/drawingml/2006/main">
              <a:ext uri="{FF2B5EF4-FFF2-40B4-BE49-F238E27FC236}">
                <a16:creationId xmlns:a16="http://schemas.microsoft.com/office/drawing/2014/main" id="{0F03D362-23A1-4D49-A94C-FD1C4C9BEF12}"/>
              </a:ext>
            </a:extLst>
          </p:cNvPr>
          <p:cNvSpPr>
            <a:spLocks xmlns:a="http://schemas.openxmlformats.org/drawingml/2006/main" noGrp="1"/>
          </p:cNvSpPr>
          <p:nvPr/>
        </p:nvSpPr>
        <p:spPr>
          <a:xfrm xmlns:a="http://schemas.openxmlformats.org/drawingml/2006/main">
            <a:off x="9201150" y="4191000"/>
            <a:ext cx="2286000" cy="0"/>
          </a:xfrm>
          <a:prstGeom xmlns:a="http://schemas.openxmlformats.org/drawingml/2006/main" prst="line">
            <a:avLst/>
          </a:prstGeom>
          <a:noFill xmlns:a="http://schemas.openxmlformats.org/drawingml/2006/main"/>
          <a:ln xmlns:a="http://schemas.openxmlformats.org/drawingml/2006/main" w="19050">
            <a:solidFill>
              <a:srgbClr val="D5A63A"/>
            </a:solidFill>
            <a:prstDash val="solid"/>
          </a:ln>
        </p:spPr>
      </p:sp>
      <p:sp>
        <p:nvSpPr>
          <p:cNvPr id="15" name="">
            <a:extLst xmlns:a="http://schemas.openxmlformats.org/drawingml/2006/main">
              <a:ext uri="{FF2B5EF4-FFF2-40B4-BE49-F238E27FC236}">
                <a16:creationId xmlns:a16="http://schemas.microsoft.com/office/drawing/2014/main" id="{56EB6F51-47A0-4858-B8CD-1E390C73CD6F}"/>
              </a:ext>
            </a:extLst>
          </p:cNvPr>
          <p:cNvSpPr>
            <a:spLocks xmlns:a="http://schemas.openxmlformats.org/drawingml/2006/main" noGrp="1"/>
          </p:cNvSpPr>
          <p:nvPr/>
        </p:nvSpPr>
        <p:spPr>
          <a:xfrm xmlns:a="http://schemas.openxmlformats.org/drawingml/2006/main">
            <a:off x="9086850" y="4476750"/>
            <a:ext cx="257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425" b="0">
                <a:solidFill>
                  <a:srgbClr val="DCEAE4"/>
                </a:solidFill>
                <a:latin typeface="Arial"/>
                <a:ea typeface="Arial"/>
                <a:cs typeface="Arial"/>
              </a:defRPr>
            </a:defPPr>
          </a:lstStyle>
          <a:p xmlns:a="http://schemas.openxmlformats.org/drawingml/2006/main">
            <a:pPr algn="ctr">
              <a:defRPr sz="1425" b="0">
                <a:solidFill>
                  <a:srgbClr val="DCEAE4"/>
                </a:solidFill>
                <a:latin typeface="Arial"/>
                <a:ea typeface="Arial"/>
                <a:cs typeface="Arial"/>
              </a:defRPr>
            </a:pPr>
            <a:r>
              <a:rPr sz="1425" b="0">
                <a:solidFill>
                  <a:srgbClr val="DCEAE4"/>
                </a:solidFill>
                <a:latin typeface="Arial"/>
                <a:ea typeface="Arial"/>
                <a:cs typeface="Arial"/>
              </a:rPr>
              <a:t>CMH Anaesthesia Management System</a:t>
            </a:r>
          </a:p>
        </p:txBody>
      </p:sp>
    </p:spTree>
    <p:extLst>
      <p:ext uri="{BB962C8B-B14F-4D97-AF65-F5344CB8AC3E}">
        <p14:creationId xmlns:p14="http://schemas.microsoft.com/office/powerpoint/2010/main" val="94226598"/>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2026-10-02T21:26:13.0880000Z</dcterms:created>
  <dcterms:modified xsi:type="dcterms:W3CDTF">2026-10-02T21:26:13.0890000Z</dcterms:modified>
</coreProperties>
</file>